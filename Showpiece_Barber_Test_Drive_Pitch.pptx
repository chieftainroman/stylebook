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349b2c33e546fa" /><Relationship Type="http://schemas.openxmlformats.org/officeDocument/2006/relationships/extended-properties" Target="/docProps/app.xml" Id="R87e5e514f21d4e7c" /><Relationship Type="http://schemas.openxmlformats.org/officeDocument/2006/relationships/officeDocument" Target="/ppt/presentation.xml" Id="R940839f1d8a941cb" /></Relationships>
</file>

<file path=ppt/presentation.xml><?xml version="1.0" encoding="utf-8"?>
<p:presentation xmlns:p="http://schemas.openxmlformats.org/presentationml/2006/main">
  <p:sldMasterIdLst>
    <p:sldMasterId xmlns:r="http://schemas.openxmlformats.org/officeDocument/2006/relationships" id="2147483648" r:id="R1b6a14be3f064b44"/>
  </p:sldMasterIdLst>
  <p:notesMasterIdLst>
    <p:notesMasterId xmlns:r="http://schemas.openxmlformats.org/officeDocument/2006/relationships" r:id="R3843e23451114317"/>
  </p:notesMasterIdLst>
  <p:sldIdLst>
    <p:sldId xmlns:r="http://schemas.openxmlformats.org/officeDocument/2006/relationships" id="256" r:id="Rb3177ed5443c4249"/>
    <p:sldId xmlns:r="http://schemas.openxmlformats.org/officeDocument/2006/relationships" id="257" r:id="R359a9c7c09b94bb2"/>
    <p:sldId xmlns:r="http://schemas.openxmlformats.org/officeDocument/2006/relationships" id="258" r:id="R9a044db8f8ca41a4"/>
    <p:sldId xmlns:r="http://schemas.openxmlformats.org/officeDocument/2006/relationships" id="259" r:id="Rf7c0318eafe54d29"/>
    <p:sldId xmlns:r="http://schemas.openxmlformats.org/officeDocument/2006/relationships" id="260" r:id="R777902e488054513"/>
    <p:sldId xmlns:r="http://schemas.openxmlformats.org/officeDocument/2006/relationships" id="261" r:id="Rba80a01c81bf4f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fbe45f26e6498a" /><Relationship Type="http://schemas.openxmlformats.org/officeDocument/2006/relationships/slideMaster" Target="/ppt/slideMasters/slideMaster1.xml" Id="R1b6a14be3f064b44" /><Relationship Type="http://schemas.openxmlformats.org/officeDocument/2006/relationships/notesMaster" Target="/ppt/notesMasters/notesMaster1.xml" Id="R3843e23451114317" /><Relationship Type="http://schemas.openxmlformats.org/officeDocument/2006/relationships/presProps" Target="/ppt/presProps.xml" Id="R43524f7792f84e2f" /><Relationship Type="http://schemas.openxmlformats.org/officeDocument/2006/relationships/tableStyles" Target="/ppt/tableStyles.xml" Id="R1973fe101a6641af" /><Relationship Type="http://schemas.openxmlformats.org/officeDocument/2006/relationships/slide" Target="/ppt/slides/slide1.xml" Id="Rb3177ed5443c4249" /><Relationship Type="http://schemas.openxmlformats.org/officeDocument/2006/relationships/slide" Target="/ppt/slides/slide2.xml" Id="R359a9c7c09b94bb2" /><Relationship Type="http://schemas.openxmlformats.org/officeDocument/2006/relationships/slide" Target="/ppt/slides/slide3.xml" Id="R9a044db8f8ca41a4" /><Relationship Type="http://schemas.openxmlformats.org/officeDocument/2006/relationships/slide" Target="/ppt/slides/slide4.xml" Id="Rf7c0318eafe54d29" /><Relationship Type="http://schemas.openxmlformats.org/officeDocument/2006/relationships/slide" Target="/ppt/slides/slide5.xml" Id="R777902e488054513" /><Relationship Type="http://schemas.openxmlformats.org/officeDocument/2006/relationships/slide" Target="/ppt/slides/slide6.xml" Id="Rba80a01c81bf4f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20941b615845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7b7ec58c4f4444" /><Relationship Type="http://schemas.openxmlformats.org/officeDocument/2006/relationships/notesMaster" Target="/ppt/notesMasters/notesMaster1.xml" Id="R9347086fa88b4b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aa9f1fbf974d99" /><Relationship Type="http://schemas.openxmlformats.org/officeDocument/2006/relationships/notesMaster" Target="/ppt/notesMasters/notesMaster1.xml" Id="Rc2b3b0c744ba43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7143a65b464222" /><Relationship Type="http://schemas.openxmlformats.org/officeDocument/2006/relationships/notesMaster" Target="/ppt/notesMasters/notesMaster1.xml" Id="R78866ca7930043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49d2c92cd0460b" /><Relationship Type="http://schemas.openxmlformats.org/officeDocument/2006/relationships/notesMaster" Target="/ppt/notesMasters/notesMaster1.xml" Id="Rfc6c7b3ddd2e4f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269f2d94b4039" /><Relationship Type="http://schemas.openxmlformats.org/officeDocument/2006/relationships/notesMaster" Target="/ppt/notesMasters/notesMaster1.xml" Id="R51afcb1c72614e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2d0c5dd6e7438b" /><Relationship Type="http://schemas.openxmlformats.org/officeDocument/2006/relationships/notesMaster" Target="/ppt/notesMasters/notesMaster1.xml" Id="R1ba37195423840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Showpiece is inviting a small group of working barbers to take the product for a real test drive. For three months, you can use the full platform without adding a payment card. Our goal is simple: learn from real work, improve fast, and launch a market-ready product in October.</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barbers are not short on talent. The friction is around the work. Bookings begin in messages, great results disappear in a feed, and promotion takes time away from clients. Showpiece brings those tasks into one practical system.</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client opens one Showpiece link and sees the complete professional picture: the work, services, experience, certificates, working hours, and booking options. It feels trustworthy for the client and removes repeated explanation for the barber.</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follows the workday. Manage bookings, save finished work to the portfolio, and turn the same photo into a professional story. The point is not to add another tool. It is to remove steps from the tools barbers already use.</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offer is deliberately simple. You receive three months of complete access without entering a card. If Showpiece earns a place in your business, you receive fifty percent off your first twelve months, whether you choose monthly or annual billing.</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looking for one hundred to one hundred and fifty active barbers who will genuinely use the product and critique it. Your experience will decide what we improve before October. Join the test drive at showpiecehub.com and help build the version the market is ready to pay for.</a:t>
            </a:r>
          </a:p>
          <a:p xmlns:a="http://schemas.openxmlformats.org/drawingml/2006/main">
            <a:r>
              <a:t/>
            </a:r>
          </a:p>
          <a:p xmlns:a="http://schemas.openxmlformats.org/drawingml/2006/main">
            <a:r>
              <a:t>[Sources]</a:t>
            </a:r>
          </a:p>
          <a:p xmlns:a="http://schemas.openxmlformats.org/drawingml/2006/main">
            <a:r>
              <a:t>- User-provided Showpiece pilot offer and recruitment goal.</a:t>
            </a:r>
          </a:p>
          <a:p xmlns:a="http://schemas.openxmlformats.org/drawingml/2006/main">
            <a:r>
              <a:t>- Local Showpiece product codebase and interface structure.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3f88cc009741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c5f7399ce54b7d" /><Relationship Type="http://schemas.openxmlformats.org/officeDocument/2006/relationships/slideLayout" Target="/ppt/slideLayouts/slideLayout1.xml" Id="R165e8e263e754b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5e8e263e754b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8aab0464cf4c23" /><Relationship Type="http://schemas.openxmlformats.org/officeDocument/2006/relationships/notesSlide" Target="/ppt/notesSlides/notesSlide1.xml" Id="Rd969e2a99d57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39c33dd6214102" /><Relationship Type="http://schemas.openxmlformats.org/officeDocument/2006/relationships/notesSlide" Target="/ppt/notesSlides/notesSlide2.xml" Id="R4af56e274cc44f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bfbf2477204606" /><Relationship Type="http://schemas.openxmlformats.org/officeDocument/2006/relationships/notesSlide" Target="/ppt/notesSlides/notesSlide3.xml" Id="R2071315b45124d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13f1bbc4cd4741" /><Relationship Type="http://schemas.openxmlformats.org/officeDocument/2006/relationships/notesSlide" Target="/ppt/notesSlides/notesSlide4.xml" Id="R3245f8ba84474b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307ac7b67b419e" /><Relationship Type="http://schemas.openxmlformats.org/officeDocument/2006/relationships/notesSlide" Target="/ppt/notesSlides/notesSlide5.xml" Id="R90a795bc999a4e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dd200d8e114a2e" /><Relationship Type="http://schemas.openxmlformats.org/officeDocument/2006/relationships/notesSlide" Target="/ppt/notesSlides/notesSlide6.xml" Id="R11c5483a406c4c30" /></Relationships>
</file>

<file path=ppt/slides/slide1.xml><?xml version="1.0" encoding="utf-8"?>
<p:sld xmlns:p="http://schemas.openxmlformats.org/presentationml/2006/main">
  <p:cSld>
    <p:bg>
      <p:bgPr>
        <a:solidFill xmlns:a="http://schemas.openxmlformats.org/drawingml/2006/main">
          <a:srgbClr val="0B0B0A"/>
        </a:solidFill>
      </p:bgPr>
    </p:bg>
    <p:spTree>
      <p:nvGrpSpPr>
        <p:cNvPr id="1" name=""/>
        <p:cNvGrpSpPr/>
        <p:nvPr/>
      </p:nvGrpSpPr>
      <p:grpSpPr>
        <a:xfrm xmlns:a="http://schemas.openxmlformats.org/drawingml/2006/main"/>
      </p:grpSpPr>
      <p:sp>
        <p:nvSpPr>
          <p:cNvPr id="13" name="brand">
            <a:extLst xmlns:a="http://schemas.openxmlformats.org/drawingml/2006/main">
              <a:ext uri="{FF2B5EF4-FFF2-40B4-BE49-F238E27FC236}">
                <a16:creationId xmlns:a16="http://schemas.microsoft.com/office/drawing/2014/main" id="{30366936-A51C-4B13-8B39-860364CD7D95}"/>
              </a:ext>
            </a:extLst>
          </p:cNvPr>
          <p:cNvSpPr>
            <a:spLocks xmlns:a="http://schemas.openxmlformats.org/drawingml/2006/main" noGrp="1"/>
          </p:cNvSpPr>
          <p:nvPr/>
        </p:nvSpPr>
        <p:spPr>
          <a:xfrm xmlns:a="http://schemas.openxmlformats.org/drawingml/2006/main">
            <a:off x="609600" y="4572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F0E8"/>
                </a:solidFill>
              </a:defRPr>
            </a:pPr>
            <a:r>
              <a:rPr sz="1650" b="1">
                <a:solidFill>
                  <a:srgbClr val="F3F0E8"/>
                </a:solidFill>
              </a:rPr>
              <a:t>SHOWPIECE</a:t>
            </a:r>
          </a:p>
        </p:txBody>
      </p:sp>
      <p:sp>
        <p:nvSpPr>
          <p:cNvPr id="2" name="program">
            <a:extLst xmlns:a="http://schemas.openxmlformats.org/drawingml/2006/main">
              <a:ext uri="{FF2B5EF4-FFF2-40B4-BE49-F238E27FC236}">
                <a16:creationId xmlns:a16="http://schemas.microsoft.com/office/drawing/2014/main" id="{79000608-F073-40E5-9353-69D441D9E2EC}"/>
              </a:ext>
            </a:extLst>
          </p:cNvPr>
          <p:cNvSpPr>
            <a:spLocks xmlns:a="http://schemas.openxmlformats.org/drawingml/2006/main" noGrp="1"/>
          </p:cNvSpPr>
          <p:nvPr/>
        </p:nvSpPr>
        <p:spPr>
          <a:xfrm xmlns:a="http://schemas.openxmlformats.org/drawingml/2006/main">
            <a:off x="7905750" y="4762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8E8B84"/>
                </a:solidFill>
              </a:defRPr>
            </a:pPr>
            <a:r>
              <a:rPr sz="975" b="1">
                <a:solidFill>
                  <a:srgbClr val="8E8B84"/>
                </a:solidFill>
              </a:rPr>
              <a:t>FOUNDING BARBER PROGRAM / 2026</a:t>
            </a:r>
          </a:p>
        </p:txBody>
      </p:sp>
      <p:sp>
        <p:nvSpPr>
          <p:cNvPr id="3" name="top-rule">
            <a:extLst xmlns:a="http://schemas.openxmlformats.org/drawingml/2006/main">
              <a:ext uri="{FF2B5EF4-FFF2-40B4-BE49-F238E27FC236}">
                <a16:creationId xmlns:a16="http://schemas.microsoft.com/office/drawing/2014/main" id="{63E2B2D7-5C81-4044-8214-4014B199C1A1}"/>
              </a:ext>
            </a:extLst>
          </p:cNvPr>
          <p:cNvSpPr>
            <a:spLocks xmlns:a="http://schemas.openxmlformats.org/drawingml/2006/main" noGrp="1"/>
          </p:cNvSpPr>
          <p:nvPr/>
        </p:nvSpPr>
        <p:spPr>
          <a:xfrm xmlns:a="http://schemas.openxmlformats.org/drawingml/2006/main">
            <a:off x="609600" y="1028700"/>
            <a:ext cx="10934700" cy="9525"/>
          </a:xfrm>
          <a:prstGeom xmlns:a="http://schemas.openxmlformats.org/drawingml/2006/main" prst="rect">
            <a:avLst/>
          </a:prstGeom>
          <a:solidFill xmlns:a="http://schemas.openxmlformats.org/drawingml/2006/main">
            <a:srgbClr val="33332F"/>
          </a:solidFill>
          <a:ln xmlns:a="http://schemas.openxmlformats.org/drawingml/2006/main" w="0">
            <a:solidFill>
              <a:srgbClr val="33332F"/>
            </a:solidFill>
            <a:prstDash val="solid"/>
          </a:ln>
        </p:spPr>
      </p:sp>
      <p:sp>
        <p:nvSpPr>
          <p:cNvPr id="4" name="title-accent">
            <a:extLst xmlns:a="http://schemas.openxmlformats.org/drawingml/2006/main">
              <a:ext uri="{FF2B5EF4-FFF2-40B4-BE49-F238E27FC236}">
                <a16:creationId xmlns:a16="http://schemas.microsoft.com/office/drawing/2014/main" id="{F5FCB8CA-E132-48DB-A0AD-0E732F5F92CD}"/>
              </a:ext>
            </a:extLst>
          </p:cNvPr>
          <p:cNvSpPr>
            <a:spLocks xmlns:a="http://schemas.openxmlformats.org/drawingml/2006/main" noGrp="1"/>
          </p:cNvSpPr>
          <p:nvPr/>
        </p:nvSpPr>
        <p:spPr>
          <a:xfrm xmlns:a="http://schemas.openxmlformats.org/drawingml/2006/main">
            <a:off x="609600" y="1447800"/>
            <a:ext cx="85725" cy="2152650"/>
          </a:xfrm>
          <a:prstGeom xmlns:a="http://schemas.openxmlformats.org/drawingml/2006/main" prst="rect">
            <a:avLst/>
          </a:prstGeom>
          <a:solidFill xmlns:a="http://schemas.openxmlformats.org/drawingml/2006/main">
            <a:srgbClr val="443CFF"/>
          </a:solidFill>
          <a:ln xmlns:a="http://schemas.openxmlformats.org/drawingml/2006/main" w="0">
            <a:solidFill>
              <a:srgbClr val="443CFF"/>
            </a:solidFill>
            <a:prstDash val="solid"/>
          </a:ln>
        </p:spPr>
      </p:sp>
      <p:sp>
        <p:nvSpPr>
          <p:cNvPr id="5" name="hero-title">
            <a:extLst xmlns:a="http://schemas.openxmlformats.org/drawingml/2006/main">
              <a:ext uri="{FF2B5EF4-FFF2-40B4-BE49-F238E27FC236}">
                <a16:creationId xmlns:a16="http://schemas.microsoft.com/office/drawing/2014/main" id="{45B666F2-F2A0-46A1-B645-128D596A3B57}"/>
              </a:ext>
            </a:extLst>
          </p:cNvPr>
          <p:cNvSpPr>
            <a:spLocks xmlns:a="http://schemas.openxmlformats.org/drawingml/2006/main" noGrp="1"/>
          </p:cNvSpPr>
          <p:nvPr/>
        </p:nvSpPr>
        <p:spPr>
          <a:xfrm xmlns:a="http://schemas.openxmlformats.org/drawingml/2006/main">
            <a:off x="876300" y="1285875"/>
            <a:ext cx="7524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850" b="1">
                <a:solidFill>
                  <a:srgbClr val="F3F0E8"/>
                </a:solidFill>
              </a:defRPr>
            </a:pPr>
            <a:r>
              <a:rPr sz="5850" b="1">
                <a:solidFill>
                  <a:srgbClr val="F3F0E8"/>
                </a:solidFill>
              </a:rPr>
              <a:t>THE BARBER</a:t>
            </a:r>
          </a:p>
          <a:p xmlns:a="http://schemas.openxmlformats.org/drawingml/2006/main">
            <a:pPr algn="l">
              <a:defRPr sz="5850" b="1">
                <a:solidFill>
                  <a:srgbClr val="F3F0E8"/>
                </a:solidFill>
              </a:defRPr>
            </a:pPr>
            <a:r>
              <a:rPr sz="5850" b="1">
                <a:solidFill>
                  <a:srgbClr val="F3F0E8"/>
                </a:solidFill>
              </a:rPr>
              <a:t>TEST DRIVE</a:t>
            </a:r>
          </a:p>
        </p:txBody>
      </p:sp>
      <p:sp>
        <p:nvSpPr>
          <p:cNvPr id="6" name="ghost-number">
            <a:extLst xmlns:a="http://schemas.openxmlformats.org/drawingml/2006/main">
              <a:ext uri="{FF2B5EF4-FFF2-40B4-BE49-F238E27FC236}">
                <a16:creationId xmlns:a16="http://schemas.microsoft.com/office/drawing/2014/main" id="{E92DAE7D-2F6F-4CCB-A6FB-A9BDCDF179BF}"/>
              </a:ext>
            </a:extLst>
          </p:cNvPr>
          <p:cNvSpPr>
            <a:spLocks xmlns:a="http://schemas.openxmlformats.org/drawingml/2006/main" noGrp="1"/>
          </p:cNvSpPr>
          <p:nvPr/>
        </p:nvSpPr>
        <p:spPr>
          <a:xfrm xmlns:a="http://schemas.openxmlformats.org/drawingml/2006/main">
            <a:off x="8715375" y="1181100"/>
            <a:ext cx="285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0" b="1">
                <a:solidFill>
                  <a:srgbClr val="242421"/>
                </a:solidFill>
              </a:defRPr>
            </a:pPr>
            <a:r>
              <a:rPr sz="12000" b="1">
                <a:solidFill>
                  <a:srgbClr val="242421"/>
                </a:solidFill>
              </a:rPr>
              <a:t>01</a:t>
            </a:r>
          </a:p>
        </p:txBody>
      </p:sp>
      <p:sp>
        <p:nvSpPr>
          <p:cNvPr id="7" name="hero-subtitle">
            <a:extLst xmlns:a="http://schemas.openxmlformats.org/drawingml/2006/main">
              <a:ext uri="{FF2B5EF4-FFF2-40B4-BE49-F238E27FC236}">
                <a16:creationId xmlns:a16="http://schemas.microsoft.com/office/drawing/2014/main" id="{46ADE54F-B3F7-4EBA-BD7C-50E2D078F7FB}"/>
              </a:ext>
            </a:extLst>
          </p:cNvPr>
          <p:cNvSpPr>
            <a:spLocks xmlns:a="http://schemas.openxmlformats.org/drawingml/2006/main" noGrp="1"/>
          </p:cNvSpPr>
          <p:nvPr/>
        </p:nvSpPr>
        <p:spPr>
          <a:xfrm xmlns:a="http://schemas.openxmlformats.org/drawingml/2006/main">
            <a:off x="876300" y="3943350"/>
            <a:ext cx="847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0">
                <a:solidFill>
                  <a:srgbClr val="C6C2B9"/>
                </a:solidFill>
              </a:defRPr>
            </a:pPr>
            <a:r>
              <a:rPr sz="2025" b="0">
                <a:solidFill>
                  <a:srgbClr val="C6C2B9"/>
                </a:solidFill>
              </a:rPr>
              <a:t>Three months free. No card. Built with working barbers.</a:t>
            </a:r>
          </a:p>
        </p:txBody>
      </p:sp>
      <p:sp>
        <p:nvSpPr>
          <p:cNvPr id="8" name="lime-rule">
            <a:extLst xmlns:a="http://schemas.openxmlformats.org/drawingml/2006/main">
              <a:ext uri="{FF2B5EF4-FFF2-40B4-BE49-F238E27FC236}">
                <a16:creationId xmlns:a16="http://schemas.microsoft.com/office/drawing/2014/main" id="{328E241D-39CE-4224-A925-AC812938FE9B}"/>
              </a:ext>
            </a:extLst>
          </p:cNvPr>
          <p:cNvSpPr>
            <a:spLocks xmlns:a="http://schemas.openxmlformats.org/drawingml/2006/main" noGrp="1"/>
          </p:cNvSpPr>
          <p:nvPr/>
        </p:nvSpPr>
        <p:spPr>
          <a:xfrm xmlns:a="http://schemas.openxmlformats.org/drawingml/2006/main">
            <a:off x="876300" y="4686300"/>
            <a:ext cx="3476625" cy="57150"/>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9" name="launch-line">
            <a:extLst xmlns:a="http://schemas.openxmlformats.org/drawingml/2006/main">
              <a:ext uri="{FF2B5EF4-FFF2-40B4-BE49-F238E27FC236}">
                <a16:creationId xmlns:a16="http://schemas.microsoft.com/office/drawing/2014/main" id="{BBEC2446-413A-4EA4-AC7C-2D82B7E03BF8}"/>
              </a:ext>
            </a:extLst>
          </p:cNvPr>
          <p:cNvSpPr>
            <a:spLocks xmlns:a="http://schemas.openxmlformats.org/drawingml/2006/main" noGrp="1"/>
          </p:cNvSpPr>
          <p:nvPr/>
        </p:nvSpPr>
        <p:spPr>
          <a:xfrm xmlns:a="http://schemas.openxmlformats.org/drawingml/2006/main">
            <a:off x="876300" y="493395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 real-world test before the October market launch.</a:t>
            </a:r>
          </a:p>
        </p:txBody>
      </p:sp>
      <p:sp>
        <p:nvSpPr>
          <p:cNvPr id="10" name="bottom-band">
            <a:extLst xmlns:a="http://schemas.openxmlformats.org/drawingml/2006/main">
              <a:ext uri="{FF2B5EF4-FFF2-40B4-BE49-F238E27FC236}">
                <a16:creationId xmlns:a16="http://schemas.microsoft.com/office/drawing/2014/main" id="{424E6142-AB1B-49B5-B352-588B8D062C8A}"/>
              </a:ext>
            </a:extLst>
          </p:cNvPr>
          <p:cNvSpPr>
            <a:spLocks xmlns:a="http://schemas.openxmlformats.org/drawingml/2006/main" noGrp="1"/>
          </p:cNvSpPr>
          <p:nvPr/>
        </p:nvSpPr>
        <p:spPr>
          <a:xfrm xmlns:a="http://schemas.openxmlformats.org/drawingml/2006/main">
            <a:off x="0" y="6096000"/>
            <a:ext cx="12192000" cy="762000"/>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11" name="founding-count">
            <a:extLst xmlns:a="http://schemas.openxmlformats.org/drawingml/2006/main">
              <a:ext uri="{FF2B5EF4-FFF2-40B4-BE49-F238E27FC236}">
                <a16:creationId xmlns:a16="http://schemas.microsoft.com/office/drawing/2014/main" id="{E2820560-C72B-491B-A4F5-8F07A01E376C}"/>
              </a:ext>
            </a:extLst>
          </p:cNvPr>
          <p:cNvSpPr>
            <a:spLocks xmlns:a="http://schemas.openxmlformats.org/drawingml/2006/main" noGrp="1"/>
          </p:cNvSpPr>
          <p:nvPr/>
        </p:nvSpPr>
        <p:spPr>
          <a:xfrm xmlns:a="http://schemas.openxmlformats.org/drawingml/2006/main">
            <a:off x="609600" y="63055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0B0A"/>
                </a:solidFill>
              </a:defRPr>
            </a:pPr>
            <a:r>
              <a:rPr sz="1875" b="1">
                <a:solidFill>
                  <a:srgbClr val="0B0B0A"/>
                </a:solidFill>
              </a:rPr>
              <a:t>100-150 FOUNDING BARBERS</a:t>
            </a:r>
          </a:p>
        </p:txBody>
      </p:sp>
      <p:sp>
        <p:nvSpPr>
          <p:cNvPr id="12" name="band-copy">
            <a:extLst xmlns:a="http://schemas.openxmlformats.org/drawingml/2006/main">
              <a:ext uri="{FF2B5EF4-FFF2-40B4-BE49-F238E27FC236}">
                <a16:creationId xmlns:a16="http://schemas.microsoft.com/office/drawing/2014/main" id="{C4E18A4E-D2D8-48B3-8EAF-FAB13D725BB1}"/>
              </a:ext>
            </a:extLst>
          </p:cNvPr>
          <p:cNvSpPr>
            <a:spLocks xmlns:a="http://schemas.openxmlformats.org/drawingml/2006/main" noGrp="1"/>
          </p:cNvSpPr>
          <p:nvPr/>
        </p:nvSpPr>
        <p:spPr>
          <a:xfrm xmlns:a="http://schemas.openxmlformats.org/drawingml/2006/main">
            <a:off x="7334250" y="63246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0B0B0A"/>
                </a:solidFill>
              </a:defRPr>
            </a:pPr>
            <a:r>
              <a:rPr sz="1275" b="1">
                <a:solidFill>
                  <a:srgbClr val="0B0B0A"/>
                </a:solidFill>
              </a:rPr>
              <a:t>USE IT / TEST IT / SHAPE IT</a:t>
            </a:r>
          </a:p>
        </p:txBody>
      </p:sp>
    </p:spTree>
    <p:extLst>
      <p:ext uri="{BB962C8B-B14F-4D97-AF65-F5344CB8AC3E}">
        <p14:creationId xmlns:p14="http://schemas.microsoft.com/office/powerpoint/2010/main" val="884328405"/>
      </p:ext>
    </p:extLst>
  </p:cSld>
</p:sld>
</file>

<file path=ppt/slides/slide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21" name="brand">
            <a:extLst xmlns:a="http://schemas.openxmlformats.org/drawingml/2006/main">
              <a:ext uri="{FF2B5EF4-FFF2-40B4-BE49-F238E27FC236}">
                <a16:creationId xmlns:a16="http://schemas.microsoft.com/office/drawing/2014/main" id="{E406678C-2945-4228-AF85-94DEB6BB14A9}"/>
              </a:ext>
            </a:extLst>
          </p:cNvPr>
          <p:cNvSpPr>
            <a:spLocks xmlns:a="http://schemas.openxmlformats.org/drawingml/2006/main" noGrp="1"/>
          </p:cNvSpPr>
          <p:nvPr/>
        </p:nvSpPr>
        <p:spPr>
          <a:xfrm xmlns:a="http://schemas.openxmlformats.org/drawingml/2006/main">
            <a:off x="609600" y="3238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0B0A"/>
                </a:solidFill>
              </a:defRPr>
            </a:pPr>
            <a:r>
              <a:rPr sz="1350" b="1">
                <a:solidFill>
                  <a:srgbClr val="0B0B0A"/>
                </a:solidFill>
              </a:rPr>
              <a:t>SHOWPIECE</a:t>
            </a:r>
          </a:p>
        </p:txBody>
      </p:sp>
      <p:sp>
        <p:nvSpPr>
          <p:cNvPr id="2" name="header-rule">
            <a:extLst xmlns:a="http://schemas.openxmlformats.org/drawingml/2006/main">
              <a:ext uri="{FF2B5EF4-FFF2-40B4-BE49-F238E27FC236}">
                <a16:creationId xmlns:a16="http://schemas.microsoft.com/office/drawing/2014/main" id="{66937B56-AAA2-4F0D-BFC4-D57D69363996}"/>
              </a:ext>
            </a:extLst>
          </p:cNvPr>
          <p:cNvSpPr>
            <a:spLocks xmlns:a="http://schemas.openxmlformats.org/drawingml/2006/main" noGrp="1"/>
          </p:cNvSpPr>
          <p:nvPr/>
        </p:nvSpPr>
        <p:spPr>
          <a:xfrm xmlns:a="http://schemas.openxmlformats.org/drawingml/2006/main">
            <a:off x="2286000" y="447675"/>
            <a:ext cx="7524750" cy="9525"/>
          </a:xfrm>
          <a:prstGeom xmlns:a="http://schemas.openxmlformats.org/drawingml/2006/main" prst="rect">
            <a:avLst/>
          </a:prstGeom>
          <a:solidFill xmlns:a="http://schemas.openxmlformats.org/drawingml/2006/main">
            <a:srgbClr val="D9D5CB"/>
          </a:solidFill>
          <a:ln xmlns:a="http://schemas.openxmlformats.org/drawingml/2006/main" w="0">
            <a:solidFill>
              <a:srgbClr val="D9D5CB"/>
            </a:solidFill>
            <a:prstDash val="solid"/>
          </a:ln>
        </p:spPr>
      </p:sp>
      <p:sp>
        <p:nvSpPr>
          <p:cNvPr id="3" name="page-number">
            <a:extLst xmlns:a="http://schemas.openxmlformats.org/drawingml/2006/main">
              <a:ext uri="{FF2B5EF4-FFF2-40B4-BE49-F238E27FC236}">
                <a16:creationId xmlns:a16="http://schemas.microsoft.com/office/drawing/2014/main" id="{F4C43E1E-14C6-421A-84B7-839771A5DB0C}"/>
              </a:ext>
            </a:extLst>
          </p:cNvPr>
          <p:cNvSpPr>
            <a:spLocks xmlns:a="http://schemas.openxmlformats.org/drawingml/2006/main" noGrp="1"/>
          </p:cNvSpPr>
          <p:nvPr/>
        </p:nvSpPr>
        <p:spPr>
          <a:xfrm xmlns:a="http://schemas.openxmlformats.org/drawingml/2006/main">
            <a:off x="10858500" y="31432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443CFF"/>
                </a:solidFill>
              </a:defRPr>
            </a:pPr>
            <a:r>
              <a:rPr sz="1125" b="1">
                <a:solidFill>
                  <a:srgbClr val="443CFF"/>
                </a:solidFill>
              </a:rPr>
              <a:t>02</a:t>
            </a:r>
          </a:p>
        </p:txBody>
      </p:sp>
      <p:sp>
        <p:nvSpPr>
          <p:cNvPr id="4" name="title">
            <a:extLst xmlns:a="http://schemas.openxmlformats.org/drawingml/2006/main">
              <a:ext uri="{FF2B5EF4-FFF2-40B4-BE49-F238E27FC236}">
                <a16:creationId xmlns:a16="http://schemas.microsoft.com/office/drawing/2014/main" id="{A516CBA8-C1F5-488F-90B9-10A5D0349BED}"/>
              </a:ext>
            </a:extLst>
          </p:cNvPr>
          <p:cNvSpPr>
            <a:spLocks xmlns:a="http://schemas.openxmlformats.org/drawingml/2006/main" noGrp="1"/>
          </p:cNvSpPr>
          <p:nvPr/>
        </p:nvSpPr>
        <p:spPr>
          <a:xfrm xmlns:a="http://schemas.openxmlformats.org/drawingml/2006/main">
            <a:off x="609600" y="914400"/>
            <a:ext cx="685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a:solidFill>
                  <a:srgbClr val="0B0B0A"/>
                </a:solidFill>
              </a:defRPr>
            </a:pPr>
            <a:r>
              <a:rPr sz="3375" b="1">
                <a:solidFill>
                  <a:srgbClr val="0B0B0A"/>
                </a:solidFill>
              </a:rPr>
              <a:t>Great work gets buried by busywork.</a:t>
            </a:r>
          </a:p>
        </p:txBody>
      </p:sp>
      <p:sp>
        <p:nvSpPr>
          <p:cNvPr id="5" name="problem-num-01">
            <a:extLst xmlns:a="http://schemas.openxmlformats.org/drawingml/2006/main">
              <a:ext uri="{FF2B5EF4-FFF2-40B4-BE49-F238E27FC236}">
                <a16:creationId xmlns:a16="http://schemas.microsoft.com/office/drawing/2014/main" id="{08421CAC-3D31-4521-BF38-2CA4CDF09604}"/>
              </a:ext>
            </a:extLst>
          </p:cNvPr>
          <p:cNvSpPr>
            <a:spLocks xmlns:a="http://schemas.openxmlformats.org/drawingml/2006/main" noGrp="1"/>
          </p:cNvSpPr>
          <p:nvPr/>
        </p:nvSpPr>
        <p:spPr>
          <a:xfrm xmlns:a="http://schemas.openxmlformats.org/drawingml/2006/main">
            <a:off x="609600" y="18669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443CFF"/>
                </a:solidFill>
              </a:defRPr>
            </a:pPr>
            <a:r>
              <a:rPr sz="1500" b="1">
                <a:solidFill>
                  <a:srgbClr val="443CFF"/>
                </a:solidFill>
              </a:rPr>
              <a:t>01</a:t>
            </a:r>
          </a:p>
        </p:txBody>
      </p:sp>
      <p:sp>
        <p:nvSpPr>
          <p:cNvPr id="6" name="problem-head-01">
            <a:extLst xmlns:a="http://schemas.openxmlformats.org/drawingml/2006/main">
              <a:ext uri="{FF2B5EF4-FFF2-40B4-BE49-F238E27FC236}">
                <a16:creationId xmlns:a16="http://schemas.microsoft.com/office/drawing/2014/main" id="{45A3683B-D715-46AF-AF66-FCCA91343F01}"/>
              </a:ext>
            </a:extLst>
          </p:cNvPr>
          <p:cNvSpPr>
            <a:spLocks xmlns:a="http://schemas.openxmlformats.org/drawingml/2006/main" noGrp="1"/>
          </p:cNvSpPr>
          <p:nvPr/>
        </p:nvSpPr>
        <p:spPr>
          <a:xfrm xmlns:a="http://schemas.openxmlformats.org/drawingml/2006/main">
            <a:off x="1162050" y="18478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0B0A"/>
                </a:solidFill>
              </a:defRPr>
            </a:pPr>
            <a:r>
              <a:rPr sz="1725" b="1">
                <a:solidFill>
                  <a:srgbClr val="0B0B0A"/>
                </a:solidFill>
              </a:rPr>
              <a:t>Bookings start in DMs.</a:t>
            </a:r>
          </a:p>
        </p:txBody>
      </p:sp>
      <p:sp>
        <p:nvSpPr>
          <p:cNvPr id="7" name="problem-body-01">
            <a:extLst xmlns:a="http://schemas.openxmlformats.org/drawingml/2006/main">
              <a:ext uri="{FF2B5EF4-FFF2-40B4-BE49-F238E27FC236}">
                <a16:creationId xmlns:a16="http://schemas.microsoft.com/office/drawing/2014/main" id="{AC89900C-2601-44DE-A299-2FB35CE5602C}"/>
              </a:ext>
            </a:extLst>
          </p:cNvPr>
          <p:cNvSpPr>
            <a:spLocks xmlns:a="http://schemas.openxmlformats.org/drawingml/2006/main" noGrp="1"/>
          </p:cNvSpPr>
          <p:nvPr/>
        </p:nvSpPr>
        <p:spPr>
          <a:xfrm xmlns:a="http://schemas.openxmlformats.org/drawingml/2006/main">
            <a:off x="1162050" y="2219325"/>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77746D"/>
                </a:solidFill>
              </a:defRPr>
            </a:pPr>
            <a:r>
              <a:rPr sz="1275" b="0">
                <a:solidFill>
                  <a:srgbClr val="77746D"/>
                </a:solidFill>
              </a:rPr>
              <a:t>Messages are easy to miss, hard to organize, and slow to confirm.</a:t>
            </a:r>
          </a:p>
        </p:txBody>
      </p:sp>
      <p:sp>
        <p:nvSpPr>
          <p:cNvPr id="8" name="problem-num-02">
            <a:extLst xmlns:a="http://schemas.openxmlformats.org/drawingml/2006/main">
              <a:ext uri="{FF2B5EF4-FFF2-40B4-BE49-F238E27FC236}">
                <a16:creationId xmlns:a16="http://schemas.microsoft.com/office/drawing/2014/main" id="{BE6B156E-8A38-4BA4-8C3C-B76404008631}"/>
              </a:ext>
            </a:extLst>
          </p:cNvPr>
          <p:cNvSpPr>
            <a:spLocks xmlns:a="http://schemas.openxmlformats.org/drawingml/2006/main" noGrp="1"/>
          </p:cNvSpPr>
          <p:nvPr/>
        </p:nvSpPr>
        <p:spPr>
          <a:xfrm xmlns:a="http://schemas.openxmlformats.org/drawingml/2006/main">
            <a:off x="609600" y="31242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443CFF"/>
                </a:solidFill>
              </a:defRPr>
            </a:pPr>
            <a:r>
              <a:rPr sz="1500" b="1">
                <a:solidFill>
                  <a:srgbClr val="443CFF"/>
                </a:solidFill>
              </a:rPr>
              <a:t>02</a:t>
            </a:r>
          </a:p>
        </p:txBody>
      </p:sp>
      <p:sp>
        <p:nvSpPr>
          <p:cNvPr id="9" name="problem-head-02">
            <a:extLst xmlns:a="http://schemas.openxmlformats.org/drawingml/2006/main">
              <a:ext uri="{FF2B5EF4-FFF2-40B4-BE49-F238E27FC236}">
                <a16:creationId xmlns:a16="http://schemas.microsoft.com/office/drawing/2014/main" id="{937FE4BE-B7E7-4A38-A830-331159949F44}"/>
              </a:ext>
            </a:extLst>
          </p:cNvPr>
          <p:cNvSpPr>
            <a:spLocks xmlns:a="http://schemas.openxmlformats.org/drawingml/2006/main" noGrp="1"/>
          </p:cNvSpPr>
          <p:nvPr/>
        </p:nvSpPr>
        <p:spPr>
          <a:xfrm xmlns:a="http://schemas.openxmlformats.org/drawingml/2006/main">
            <a:off x="1162050" y="31051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0B0A"/>
                </a:solidFill>
              </a:defRPr>
            </a:pPr>
            <a:r>
              <a:rPr sz="1725" b="1">
                <a:solidFill>
                  <a:srgbClr val="0B0B0A"/>
                </a:solidFill>
              </a:rPr>
              <a:t>Your best work disappears.</a:t>
            </a:r>
          </a:p>
        </p:txBody>
      </p:sp>
      <p:sp>
        <p:nvSpPr>
          <p:cNvPr id="10" name="problem-body-02">
            <a:extLst xmlns:a="http://schemas.openxmlformats.org/drawingml/2006/main">
              <a:ext uri="{FF2B5EF4-FFF2-40B4-BE49-F238E27FC236}">
                <a16:creationId xmlns:a16="http://schemas.microsoft.com/office/drawing/2014/main" id="{A87FC5C4-984C-4F12-A6C1-A28B42F48D4E}"/>
              </a:ext>
            </a:extLst>
          </p:cNvPr>
          <p:cNvSpPr>
            <a:spLocks xmlns:a="http://schemas.openxmlformats.org/drawingml/2006/main" noGrp="1"/>
          </p:cNvSpPr>
          <p:nvPr/>
        </p:nvSpPr>
        <p:spPr>
          <a:xfrm xmlns:a="http://schemas.openxmlformats.org/drawingml/2006/main">
            <a:off x="1162050" y="3476625"/>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77746D"/>
                </a:solidFill>
              </a:defRPr>
            </a:pPr>
            <a:r>
              <a:rPr sz="1275" b="0">
                <a:solidFill>
                  <a:srgbClr val="77746D"/>
                </a:solidFill>
              </a:rPr>
              <a:t>A strong result becomes yesterday's post instead of a lasting portfolio.</a:t>
            </a:r>
          </a:p>
        </p:txBody>
      </p:sp>
      <p:sp>
        <p:nvSpPr>
          <p:cNvPr id="11" name="problem-num-03">
            <a:extLst xmlns:a="http://schemas.openxmlformats.org/drawingml/2006/main">
              <a:ext uri="{FF2B5EF4-FFF2-40B4-BE49-F238E27FC236}">
                <a16:creationId xmlns:a16="http://schemas.microsoft.com/office/drawing/2014/main" id="{82A577DC-6635-471E-8393-16B74D89032B}"/>
              </a:ext>
            </a:extLst>
          </p:cNvPr>
          <p:cNvSpPr>
            <a:spLocks xmlns:a="http://schemas.openxmlformats.org/drawingml/2006/main" noGrp="1"/>
          </p:cNvSpPr>
          <p:nvPr/>
        </p:nvSpPr>
        <p:spPr>
          <a:xfrm xmlns:a="http://schemas.openxmlformats.org/drawingml/2006/main">
            <a:off x="609600" y="43815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443CFF"/>
                </a:solidFill>
              </a:defRPr>
            </a:pPr>
            <a:r>
              <a:rPr sz="1500" b="1">
                <a:solidFill>
                  <a:srgbClr val="443CFF"/>
                </a:solidFill>
              </a:rPr>
              <a:t>03</a:t>
            </a:r>
          </a:p>
        </p:txBody>
      </p:sp>
      <p:sp>
        <p:nvSpPr>
          <p:cNvPr id="12" name="problem-head-03">
            <a:extLst xmlns:a="http://schemas.openxmlformats.org/drawingml/2006/main">
              <a:ext uri="{FF2B5EF4-FFF2-40B4-BE49-F238E27FC236}">
                <a16:creationId xmlns:a16="http://schemas.microsoft.com/office/drawing/2014/main" id="{A17B841E-5D67-427B-8C8C-19B7498AEE78}"/>
              </a:ext>
            </a:extLst>
          </p:cNvPr>
          <p:cNvSpPr>
            <a:spLocks xmlns:a="http://schemas.openxmlformats.org/drawingml/2006/main" noGrp="1"/>
          </p:cNvSpPr>
          <p:nvPr/>
        </p:nvSpPr>
        <p:spPr>
          <a:xfrm xmlns:a="http://schemas.openxmlformats.org/drawingml/2006/main">
            <a:off x="1162050" y="43624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0B0A"/>
                </a:solidFill>
              </a:defRPr>
            </a:pPr>
            <a:r>
              <a:rPr sz="1725" b="1">
                <a:solidFill>
                  <a:srgbClr val="0B0B0A"/>
                </a:solidFill>
              </a:rPr>
              <a:t>Promotion steals chair time.</a:t>
            </a:r>
          </a:p>
        </p:txBody>
      </p:sp>
      <p:sp>
        <p:nvSpPr>
          <p:cNvPr id="13" name="problem-body-03">
            <a:extLst xmlns:a="http://schemas.openxmlformats.org/drawingml/2006/main">
              <a:ext uri="{FF2B5EF4-FFF2-40B4-BE49-F238E27FC236}">
                <a16:creationId xmlns:a16="http://schemas.microsoft.com/office/drawing/2014/main" id="{20EC5FDB-7095-4C08-90F1-C77D93BB8AD3}"/>
              </a:ext>
            </a:extLst>
          </p:cNvPr>
          <p:cNvSpPr>
            <a:spLocks xmlns:a="http://schemas.openxmlformats.org/drawingml/2006/main" noGrp="1"/>
          </p:cNvSpPr>
          <p:nvPr/>
        </p:nvSpPr>
        <p:spPr>
          <a:xfrm xmlns:a="http://schemas.openxmlformats.org/drawingml/2006/main">
            <a:off x="1162050" y="4733925"/>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77746D"/>
                </a:solidFill>
              </a:defRPr>
            </a:pPr>
            <a:r>
              <a:rPr sz="1275" b="0">
                <a:solidFill>
                  <a:srgbClr val="77746D"/>
                </a:solidFill>
              </a:rPr>
              <a:t>Profiles, bookings, and content live in separate tools.</a:t>
            </a:r>
          </a:p>
        </p:txBody>
      </p:sp>
      <p:sp>
        <p:nvSpPr>
          <p:cNvPr id="14" name="shot-Dashboard home">
            <a:extLst xmlns:a="http://schemas.openxmlformats.org/drawingml/2006/main">
              <a:ext uri="{FF2B5EF4-FFF2-40B4-BE49-F238E27FC236}">
                <a16:creationId xmlns:a16="http://schemas.microsoft.com/office/drawing/2014/main" id="{0C3C5557-9D33-4971-B598-E897F5638518}"/>
              </a:ext>
            </a:extLst>
          </p:cNvPr>
          <p:cNvSpPr>
            <a:spLocks xmlns:a="http://schemas.openxmlformats.org/drawingml/2006/main" noGrp="1"/>
          </p:cNvSpPr>
          <p:nvPr/>
        </p:nvSpPr>
        <p:spPr>
          <a:xfrm xmlns:a="http://schemas.openxmlformats.org/drawingml/2006/main">
            <a:off x="6496050" y="1619250"/>
            <a:ext cx="5048250" cy="3981450"/>
          </a:xfrm>
          <a:prstGeom xmlns:a="http://schemas.openxmlformats.org/drawingml/2006/main" prst="rect">
            <a:avLst/>
          </a:prstGeom>
          <a:solidFill xmlns:a="http://schemas.openxmlformats.org/drawingml/2006/main">
            <a:srgbClr val="171715"/>
          </a:solidFill>
          <a:ln xmlns:a="http://schemas.openxmlformats.org/drawingml/2006/main" w="19050">
            <a:solidFill>
              <a:srgbClr val="443CFF"/>
            </a:solidFill>
            <a:prstDash val="solid"/>
          </a:ln>
        </p:spPr>
      </p:sp>
      <p:sp>
        <p:nvSpPr>
          <p:cNvPr id="15" name="shot-mark-Dashboard home">
            <a:extLst xmlns:a="http://schemas.openxmlformats.org/drawingml/2006/main">
              <a:ext uri="{FF2B5EF4-FFF2-40B4-BE49-F238E27FC236}">
                <a16:creationId xmlns:a16="http://schemas.microsoft.com/office/drawing/2014/main" id="{4F0A0834-5AC9-4EAF-AD94-274AA807B77D}"/>
              </a:ext>
            </a:extLst>
          </p:cNvPr>
          <p:cNvSpPr>
            <a:spLocks xmlns:a="http://schemas.openxmlformats.org/drawingml/2006/main" noGrp="1"/>
          </p:cNvSpPr>
          <p:nvPr/>
        </p:nvSpPr>
        <p:spPr>
          <a:xfrm xmlns:a="http://schemas.openxmlformats.org/drawingml/2006/main">
            <a:off x="6667500" y="1790700"/>
            <a:ext cx="400050" cy="47625"/>
          </a:xfrm>
          <a:prstGeom xmlns:a="http://schemas.openxmlformats.org/drawingml/2006/main" prst="rect">
            <a:avLst/>
          </a:prstGeom>
          <a:solidFill xmlns:a="http://schemas.openxmlformats.org/drawingml/2006/main">
            <a:srgbClr val="443CFF"/>
          </a:solidFill>
          <a:ln xmlns:a="http://schemas.openxmlformats.org/drawingml/2006/main" w="0">
            <a:solidFill>
              <a:srgbClr val="443CFF"/>
            </a:solidFill>
            <a:prstDash val="solid"/>
          </a:ln>
        </p:spPr>
      </p:sp>
      <p:sp>
        <p:nvSpPr>
          <p:cNvPr id="16" name="shot-label-Dashboard home">
            <a:extLst xmlns:a="http://schemas.openxmlformats.org/drawingml/2006/main">
              <a:ext uri="{FF2B5EF4-FFF2-40B4-BE49-F238E27FC236}">
                <a16:creationId xmlns:a16="http://schemas.microsoft.com/office/drawing/2014/main" id="{C085A959-415B-44E8-8E72-40B3732703F4}"/>
              </a:ext>
            </a:extLst>
          </p:cNvPr>
          <p:cNvSpPr>
            <a:spLocks xmlns:a="http://schemas.openxmlformats.org/drawingml/2006/main" noGrp="1"/>
          </p:cNvSpPr>
          <p:nvPr/>
        </p:nvSpPr>
        <p:spPr>
          <a:xfrm xmlns:a="http://schemas.openxmlformats.org/drawingml/2006/main">
            <a:off x="6667500" y="1981200"/>
            <a:ext cx="470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43CFF"/>
                </a:solidFill>
              </a:defRPr>
            </a:pPr>
            <a:r>
              <a:rPr sz="900" b="1">
                <a:solidFill>
                  <a:srgbClr val="443CFF"/>
                </a:solidFill>
              </a:rPr>
              <a:t>SCREENSHOT TO ADD</a:t>
            </a:r>
          </a:p>
        </p:txBody>
      </p:sp>
      <p:sp>
        <p:nvSpPr>
          <p:cNvPr id="17" name="shot-title-Dashboard home">
            <a:extLst xmlns:a="http://schemas.openxmlformats.org/drawingml/2006/main">
              <a:ext uri="{FF2B5EF4-FFF2-40B4-BE49-F238E27FC236}">
                <a16:creationId xmlns:a16="http://schemas.microsoft.com/office/drawing/2014/main" id="{669CBAA8-6DD8-4F5D-A8C5-D3116446F304}"/>
              </a:ext>
            </a:extLst>
          </p:cNvPr>
          <p:cNvSpPr>
            <a:spLocks xmlns:a="http://schemas.openxmlformats.org/drawingml/2006/main" noGrp="1"/>
          </p:cNvSpPr>
          <p:nvPr/>
        </p:nvSpPr>
        <p:spPr>
          <a:xfrm xmlns:a="http://schemas.openxmlformats.org/drawingml/2006/main">
            <a:off x="6667500" y="33242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F0E8"/>
                </a:solidFill>
              </a:defRPr>
            </a:pPr>
            <a:r>
              <a:rPr sz="1800" b="1">
                <a:solidFill>
                  <a:srgbClr val="F3F0E8"/>
                </a:solidFill>
              </a:rPr>
              <a:t>Dashboard home</a:t>
            </a:r>
          </a:p>
        </p:txBody>
      </p:sp>
      <p:sp>
        <p:nvSpPr>
          <p:cNvPr id="18" name="shot-route-Dashboard home">
            <a:extLst xmlns:a="http://schemas.openxmlformats.org/drawingml/2006/main">
              <a:ext uri="{FF2B5EF4-FFF2-40B4-BE49-F238E27FC236}">
                <a16:creationId xmlns:a16="http://schemas.microsoft.com/office/drawing/2014/main" id="{8555C288-4A83-4F7F-B006-12F59EF1D69B}"/>
              </a:ext>
            </a:extLst>
          </p:cNvPr>
          <p:cNvSpPr>
            <a:spLocks xmlns:a="http://schemas.openxmlformats.org/drawingml/2006/main" noGrp="1"/>
          </p:cNvSpPr>
          <p:nvPr/>
        </p:nvSpPr>
        <p:spPr>
          <a:xfrm xmlns:a="http://schemas.openxmlformats.org/drawingml/2006/main">
            <a:off x="6667500" y="3781425"/>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BDB9B0"/>
                </a:solidFill>
              </a:defRPr>
            </a:pPr>
            <a:r>
              <a:rPr sz="1125" b="0">
                <a:solidFill>
                  <a:srgbClr val="BDB9B0"/>
                </a:solidFill>
              </a:rPr>
              <a:t>/dashboard/</a:t>
            </a:r>
          </a:p>
        </p:txBody>
      </p:sp>
      <p:sp>
        <p:nvSpPr>
          <p:cNvPr id="19" name="shot-help-Dashboard home">
            <a:extLst xmlns:a="http://schemas.openxmlformats.org/drawingml/2006/main">
              <a:ext uri="{FF2B5EF4-FFF2-40B4-BE49-F238E27FC236}">
                <a16:creationId xmlns:a16="http://schemas.microsoft.com/office/drawing/2014/main" id="{C4281CD3-0FCB-4F27-B491-E2A3DE35B3C4}"/>
              </a:ext>
            </a:extLst>
          </p:cNvPr>
          <p:cNvSpPr>
            <a:spLocks xmlns:a="http://schemas.openxmlformats.org/drawingml/2006/main" noGrp="1"/>
          </p:cNvSpPr>
          <p:nvPr/>
        </p:nvSpPr>
        <p:spPr>
          <a:xfrm xmlns:a="http://schemas.openxmlformats.org/drawingml/2006/main">
            <a:off x="6667500" y="5200650"/>
            <a:ext cx="470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777772"/>
                </a:solidFill>
              </a:defRPr>
            </a:pPr>
            <a:r>
              <a:rPr sz="825" b="0">
                <a:solidFill>
                  <a:srgbClr val="777772"/>
                </a:solidFill>
              </a:rPr>
              <a:t>Replace this frame with a full-page capture</a:t>
            </a:r>
          </a:p>
        </p:txBody>
      </p:sp>
      <p:sp>
        <p:nvSpPr>
          <p:cNvPr id="20" name="takeaway">
            <a:extLst xmlns:a="http://schemas.openxmlformats.org/drawingml/2006/main">
              <a:ext uri="{FF2B5EF4-FFF2-40B4-BE49-F238E27FC236}">
                <a16:creationId xmlns:a16="http://schemas.microsoft.com/office/drawing/2014/main" id="{B44DCFDE-819D-4772-B30C-DD0BD23C0632}"/>
              </a:ext>
            </a:extLst>
          </p:cNvPr>
          <p:cNvSpPr>
            <a:spLocks xmlns:a="http://schemas.openxmlformats.org/drawingml/2006/main" noGrp="1"/>
          </p:cNvSpPr>
          <p:nvPr/>
        </p:nvSpPr>
        <p:spPr>
          <a:xfrm xmlns:a="http://schemas.openxmlformats.org/drawingml/2006/main">
            <a:off x="609600" y="60007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0B0A"/>
                </a:solidFill>
              </a:defRPr>
            </a:pPr>
            <a:r>
              <a:rPr sz="1650" b="1">
                <a:solidFill>
                  <a:srgbClr val="0B0B0A"/>
                </a:solidFill>
              </a:rPr>
              <a:t>The problem is not your craft. It is the system around it.</a:t>
            </a:r>
          </a:p>
        </p:txBody>
      </p:sp>
    </p:spTree>
    <p:extLst>
      <p:ext uri="{BB962C8B-B14F-4D97-AF65-F5344CB8AC3E}">
        <p14:creationId xmlns:p14="http://schemas.microsoft.com/office/powerpoint/2010/main" val="1230779598"/>
      </p:ext>
    </p:extLst>
  </p:cSld>
</p:sld>
</file>

<file path=ppt/slides/slide3.xml><?xml version="1.0" encoding="utf-8"?>
<p:sld xmlns:p="http://schemas.openxmlformats.org/presentationml/2006/main">
  <p:cSld>
    <p:bg>
      <p:bgPr>
        <a:solidFill xmlns:a="http://schemas.openxmlformats.org/drawingml/2006/main">
          <a:srgbClr val="0B0B0A"/>
        </a:solidFill>
      </p:bgPr>
    </p:bg>
    <p:spTree>
      <p:nvGrpSpPr>
        <p:cNvPr id="1" name=""/>
        <p:cNvGrpSpPr/>
        <p:nvPr/>
      </p:nvGrpSpPr>
      <p:grpSpPr>
        <a:xfrm xmlns:a="http://schemas.openxmlformats.org/drawingml/2006/main"/>
      </p:grpSpPr>
      <p:sp>
        <p:nvSpPr>
          <p:cNvPr id="20" name="brand">
            <a:extLst xmlns:a="http://schemas.openxmlformats.org/drawingml/2006/main">
              <a:ext uri="{FF2B5EF4-FFF2-40B4-BE49-F238E27FC236}">
                <a16:creationId xmlns:a16="http://schemas.microsoft.com/office/drawing/2014/main" id="{64CCD9E0-9E28-4A27-9955-6E0B31EC4CAB}"/>
              </a:ext>
            </a:extLst>
          </p:cNvPr>
          <p:cNvSpPr>
            <a:spLocks xmlns:a="http://schemas.openxmlformats.org/drawingml/2006/main" noGrp="1"/>
          </p:cNvSpPr>
          <p:nvPr/>
        </p:nvSpPr>
        <p:spPr>
          <a:xfrm xmlns:a="http://schemas.openxmlformats.org/drawingml/2006/main">
            <a:off x="609600" y="3238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3F0E8"/>
                </a:solidFill>
              </a:defRPr>
            </a:pPr>
            <a:r>
              <a:rPr sz="1350" b="1">
                <a:solidFill>
                  <a:srgbClr val="F3F0E8"/>
                </a:solidFill>
              </a:rPr>
              <a:t>SHOWPIECE</a:t>
            </a:r>
          </a:p>
        </p:txBody>
      </p:sp>
      <p:sp>
        <p:nvSpPr>
          <p:cNvPr id="2" name="header-rule">
            <a:extLst xmlns:a="http://schemas.openxmlformats.org/drawingml/2006/main">
              <a:ext uri="{FF2B5EF4-FFF2-40B4-BE49-F238E27FC236}">
                <a16:creationId xmlns:a16="http://schemas.microsoft.com/office/drawing/2014/main" id="{5FF6C6CD-7E77-44B3-8B09-F8BC0C9074F9}"/>
              </a:ext>
            </a:extLst>
          </p:cNvPr>
          <p:cNvSpPr>
            <a:spLocks xmlns:a="http://schemas.openxmlformats.org/drawingml/2006/main" noGrp="1"/>
          </p:cNvSpPr>
          <p:nvPr/>
        </p:nvSpPr>
        <p:spPr>
          <a:xfrm xmlns:a="http://schemas.openxmlformats.org/drawingml/2006/main">
            <a:off x="2286000" y="447675"/>
            <a:ext cx="7524750" cy="9525"/>
          </a:xfrm>
          <a:prstGeom xmlns:a="http://schemas.openxmlformats.org/drawingml/2006/main" prst="rect">
            <a:avLst/>
          </a:prstGeom>
          <a:solidFill xmlns:a="http://schemas.openxmlformats.org/drawingml/2006/main">
            <a:srgbClr val="3A3A36"/>
          </a:solidFill>
          <a:ln xmlns:a="http://schemas.openxmlformats.org/drawingml/2006/main" w="0">
            <a:solidFill>
              <a:srgbClr val="3A3A36"/>
            </a:solidFill>
            <a:prstDash val="solid"/>
          </a:ln>
        </p:spPr>
      </p:sp>
      <p:sp>
        <p:nvSpPr>
          <p:cNvPr id="3" name="page-number">
            <a:extLst xmlns:a="http://schemas.openxmlformats.org/drawingml/2006/main">
              <a:ext uri="{FF2B5EF4-FFF2-40B4-BE49-F238E27FC236}">
                <a16:creationId xmlns:a16="http://schemas.microsoft.com/office/drawing/2014/main" id="{AF5A7E05-99D3-48D6-96E1-158B5A6769E8}"/>
              </a:ext>
            </a:extLst>
          </p:cNvPr>
          <p:cNvSpPr>
            <a:spLocks xmlns:a="http://schemas.openxmlformats.org/drawingml/2006/main" noGrp="1"/>
          </p:cNvSpPr>
          <p:nvPr/>
        </p:nvSpPr>
        <p:spPr>
          <a:xfrm xmlns:a="http://schemas.openxmlformats.org/drawingml/2006/main">
            <a:off x="10858500" y="31432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D8FF45"/>
                </a:solidFill>
              </a:defRPr>
            </a:pPr>
            <a:r>
              <a:rPr sz="1125" b="1">
                <a:solidFill>
                  <a:srgbClr val="D8FF45"/>
                </a:solidFill>
              </a:rPr>
              <a:t>03</a:t>
            </a:r>
          </a:p>
        </p:txBody>
      </p:sp>
      <p:sp>
        <p:nvSpPr>
          <p:cNvPr id="4" name="title">
            <a:extLst xmlns:a="http://schemas.openxmlformats.org/drawingml/2006/main">
              <a:ext uri="{FF2B5EF4-FFF2-40B4-BE49-F238E27FC236}">
                <a16:creationId xmlns:a16="http://schemas.microsoft.com/office/drawing/2014/main" id="{25CA897A-4DDA-46C5-A07F-F97366169846}"/>
              </a:ext>
            </a:extLst>
          </p:cNvPr>
          <p:cNvSpPr>
            <a:spLocks xmlns:a="http://schemas.openxmlformats.org/drawingml/2006/main" noGrp="1"/>
          </p:cNvSpPr>
          <p:nvPr/>
        </p:nvSpPr>
        <p:spPr>
          <a:xfrm xmlns:a="http://schemas.openxmlformats.org/drawingml/2006/main">
            <a:off x="609600" y="876300"/>
            <a:ext cx="781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a:solidFill>
                  <a:srgbClr val="F3F0E8"/>
                </a:solidFill>
              </a:defRPr>
            </a:pPr>
            <a:r>
              <a:rPr sz="3375" b="1">
                <a:solidFill>
                  <a:srgbClr val="F3F0E8"/>
                </a:solidFill>
              </a:rPr>
              <a:t>One link can do the job of five tools.</a:t>
            </a:r>
          </a:p>
        </p:txBody>
      </p:sp>
      <p:sp>
        <p:nvSpPr>
          <p:cNvPr id="5" name="feature-rule-SHOW THE WORK">
            <a:extLst xmlns:a="http://schemas.openxmlformats.org/drawingml/2006/main">
              <a:ext uri="{FF2B5EF4-FFF2-40B4-BE49-F238E27FC236}">
                <a16:creationId xmlns:a16="http://schemas.microsoft.com/office/drawing/2014/main" id="{C0D8F4F7-02FA-48C7-95D3-E170E5FC0272}"/>
              </a:ext>
            </a:extLst>
          </p:cNvPr>
          <p:cNvSpPr>
            <a:spLocks xmlns:a="http://schemas.openxmlformats.org/drawingml/2006/main" noGrp="1"/>
          </p:cNvSpPr>
          <p:nvPr/>
        </p:nvSpPr>
        <p:spPr>
          <a:xfrm xmlns:a="http://schemas.openxmlformats.org/drawingml/2006/main">
            <a:off x="609600" y="1857375"/>
            <a:ext cx="361950" cy="47625"/>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6" name="feature-head-SHOW THE WORK">
            <a:extLst xmlns:a="http://schemas.openxmlformats.org/drawingml/2006/main">
              <a:ext uri="{FF2B5EF4-FFF2-40B4-BE49-F238E27FC236}">
                <a16:creationId xmlns:a16="http://schemas.microsoft.com/office/drawing/2014/main" id="{4650C80E-541F-4EC3-A604-66D755049E0E}"/>
              </a:ext>
            </a:extLst>
          </p:cNvPr>
          <p:cNvSpPr>
            <a:spLocks xmlns:a="http://schemas.openxmlformats.org/drawingml/2006/main" noGrp="1"/>
          </p:cNvSpPr>
          <p:nvPr/>
        </p:nvSpPr>
        <p:spPr>
          <a:xfrm xmlns:a="http://schemas.openxmlformats.org/drawingml/2006/main">
            <a:off x="1162050" y="17526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SHOW THE WORK</a:t>
            </a:r>
          </a:p>
        </p:txBody>
      </p:sp>
      <p:sp>
        <p:nvSpPr>
          <p:cNvPr id="7" name="feature-body-SHOW THE WORK">
            <a:extLst xmlns:a="http://schemas.openxmlformats.org/drawingml/2006/main">
              <a:ext uri="{FF2B5EF4-FFF2-40B4-BE49-F238E27FC236}">
                <a16:creationId xmlns:a16="http://schemas.microsoft.com/office/drawing/2014/main" id="{F32E204C-1108-495F-8E26-8A876D7765C3}"/>
              </a:ext>
            </a:extLst>
          </p:cNvPr>
          <p:cNvSpPr>
            <a:spLocks xmlns:a="http://schemas.openxmlformats.org/drawingml/2006/main" noGrp="1"/>
          </p:cNvSpPr>
          <p:nvPr/>
        </p:nvSpPr>
        <p:spPr>
          <a:xfrm xmlns:a="http://schemas.openxmlformats.org/drawingml/2006/main">
            <a:off x="1162050" y="213360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A69E"/>
                </a:solidFill>
              </a:defRPr>
            </a:pPr>
            <a:r>
              <a:rPr sz="1275" b="0">
                <a:solidFill>
                  <a:srgbClr val="A9A69E"/>
                </a:solidFill>
              </a:rPr>
              <a:t>A polished public profile, portfolio, services, certificates, and hours.</a:t>
            </a:r>
          </a:p>
        </p:txBody>
      </p:sp>
      <p:sp>
        <p:nvSpPr>
          <p:cNvPr id="8" name="feature-rule-TAKE BOOKINGS">
            <a:extLst xmlns:a="http://schemas.openxmlformats.org/drawingml/2006/main">
              <a:ext uri="{FF2B5EF4-FFF2-40B4-BE49-F238E27FC236}">
                <a16:creationId xmlns:a16="http://schemas.microsoft.com/office/drawing/2014/main" id="{5E96247C-D4E0-4AA8-9BA4-BC574AD25D48}"/>
              </a:ext>
            </a:extLst>
          </p:cNvPr>
          <p:cNvSpPr>
            <a:spLocks xmlns:a="http://schemas.openxmlformats.org/drawingml/2006/main" noGrp="1"/>
          </p:cNvSpPr>
          <p:nvPr/>
        </p:nvSpPr>
        <p:spPr>
          <a:xfrm xmlns:a="http://schemas.openxmlformats.org/drawingml/2006/main">
            <a:off x="609600" y="3209925"/>
            <a:ext cx="361950" cy="47625"/>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9" name="feature-head-TAKE BOOKINGS">
            <a:extLst xmlns:a="http://schemas.openxmlformats.org/drawingml/2006/main">
              <a:ext uri="{FF2B5EF4-FFF2-40B4-BE49-F238E27FC236}">
                <a16:creationId xmlns:a16="http://schemas.microsoft.com/office/drawing/2014/main" id="{76298CA6-6D4F-42AD-882F-075575CAF08B}"/>
              </a:ext>
            </a:extLst>
          </p:cNvPr>
          <p:cNvSpPr>
            <a:spLocks xmlns:a="http://schemas.openxmlformats.org/drawingml/2006/main" noGrp="1"/>
          </p:cNvSpPr>
          <p:nvPr/>
        </p:nvSpPr>
        <p:spPr>
          <a:xfrm xmlns:a="http://schemas.openxmlformats.org/drawingml/2006/main">
            <a:off x="1162050" y="31051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TAKE BOOKINGS</a:t>
            </a:r>
          </a:p>
        </p:txBody>
      </p:sp>
      <p:sp>
        <p:nvSpPr>
          <p:cNvPr id="10" name="feature-body-TAKE BOOKINGS">
            <a:extLst xmlns:a="http://schemas.openxmlformats.org/drawingml/2006/main">
              <a:ext uri="{FF2B5EF4-FFF2-40B4-BE49-F238E27FC236}">
                <a16:creationId xmlns:a16="http://schemas.microsoft.com/office/drawing/2014/main" id="{FDA8793E-6FF9-4BE6-9629-8BC568065A71}"/>
              </a:ext>
            </a:extLst>
          </p:cNvPr>
          <p:cNvSpPr>
            <a:spLocks xmlns:a="http://schemas.openxmlformats.org/drawingml/2006/main" noGrp="1"/>
          </p:cNvSpPr>
          <p:nvPr/>
        </p:nvSpPr>
        <p:spPr>
          <a:xfrm xmlns:a="http://schemas.openxmlformats.org/drawingml/2006/main">
            <a:off x="1162050" y="34861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A69E"/>
                </a:solidFill>
              </a:defRPr>
            </a:pPr>
            <a:r>
              <a:rPr sz="1275" b="0">
                <a:solidFill>
                  <a:srgbClr val="A9A69E"/>
                </a:solidFill>
              </a:rPr>
              <a:t>Clients choose a service and an available time without a long message thread.</a:t>
            </a:r>
          </a:p>
        </p:txBody>
      </p:sp>
      <p:sp>
        <p:nvSpPr>
          <p:cNvPr id="11" name="feature-rule-BUILD TRUST">
            <a:extLst xmlns:a="http://schemas.openxmlformats.org/drawingml/2006/main">
              <a:ext uri="{FF2B5EF4-FFF2-40B4-BE49-F238E27FC236}">
                <a16:creationId xmlns:a16="http://schemas.microsoft.com/office/drawing/2014/main" id="{DE8655BF-56F1-4531-B431-28418566E2E1}"/>
              </a:ext>
            </a:extLst>
          </p:cNvPr>
          <p:cNvSpPr>
            <a:spLocks xmlns:a="http://schemas.openxmlformats.org/drawingml/2006/main" noGrp="1"/>
          </p:cNvSpPr>
          <p:nvPr/>
        </p:nvSpPr>
        <p:spPr>
          <a:xfrm xmlns:a="http://schemas.openxmlformats.org/drawingml/2006/main">
            <a:off x="609600" y="4562475"/>
            <a:ext cx="361950" cy="47625"/>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12" name="feature-head-BUILD TRUST">
            <a:extLst xmlns:a="http://schemas.openxmlformats.org/drawingml/2006/main">
              <a:ext uri="{FF2B5EF4-FFF2-40B4-BE49-F238E27FC236}">
                <a16:creationId xmlns:a16="http://schemas.microsoft.com/office/drawing/2014/main" id="{B0684B50-2683-4120-893D-2F0D1156EF47}"/>
              </a:ext>
            </a:extLst>
          </p:cNvPr>
          <p:cNvSpPr>
            <a:spLocks xmlns:a="http://schemas.openxmlformats.org/drawingml/2006/main" noGrp="1"/>
          </p:cNvSpPr>
          <p:nvPr/>
        </p:nvSpPr>
        <p:spPr>
          <a:xfrm xmlns:a="http://schemas.openxmlformats.org/drawingml/2006/main">
            <a:off x="1162050" y="44577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BUILD TRUST</a:t>
            </a:r>
          </a:p>
        </p:txBody>
      </p:sp>
      <p:sp>
        <p:nvSpPr>
          <p:cNvPr id="13" name="feature-body-BUILD TRUST">
            <a:extLst xmlns:a="http://schemas.openxmlformats.org/drawingml/2006/main">
              <a:ext uri="{FF2B5EF4-FFF2-40B4-BE49-F238E27FC236}">
                <a16:creationId xmlns:a16="http://schemas.microsoft.com/office/drawing/2014/main" id="{96D0F6CA-FA52-4ADB-8806-CEC96AF8CC31}"/>
              </a:ext>
            </a:extLst>
          </p:cNvPr>
          <p:cNvSpPr>
            <a:spLocks xmlns:a="http://schemas.openxmlformats.org/drawingml/2006/main" noGrp="1"/>
          </p:cNvSpPr>
          <p:nvPr/>
        </p:nvSpPr>
        <p:spPr>
          <a:xfrm xmlns:a="http://schemas.openxmlformats.org/drawingml/2006/main">
            <a:off x="1162050" y="483870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A69E"/>
                </a:solidFill>
              </a:defRPr>
            </a:pPr>
            <a:r>
              <a:rPr sz="1275" b="0">
                <a:solidFill>
                  <a:srgbClr val="A9A69E"/>
                </a:solidFill>
              </a:rPr>
              <a:t>Everything a new client needs to feel confident is already in one place.</a:t>
            </a:r>
          </a:p>
        </p:txBody>
      </p:sp>
      <p:sp>
        <p:nvSpPr>
          <p:cNvPr id="14" name="shot-Public barber profile">
            <a:extLst xmlns:a="http://schemas.openxmlformats.org/drawingml/2006/main">
              <a:ext uri="{FF2B5EF4-FFF2-40B4-BE49-F238E27FC236}">
                <a16:creationId xmlns:a16="http://schemas.microsoft.com/office/drawing/2014/main" id="{3BBA3028-2822-4171-AD74-FF705E5418B7}"/>
              </a:ext>
            </a:extLst>
          </p:cNvPr>
          <p:cNvSpPr>
            <a:spLocks xmlns:a="http://schemas.openxmlformats.org/drawingml/2006/main" noGrp="1"/>
          </p:cNvSpPr>
          <p:nvPr/>
        </p:nvSpPr>
        <p:spPr>
          <a:xfrm xmlns:a="http://schemas.openxmlformats.org/drawingml/2006/main">
            <a:off x="5095875" y="1504950"/>
            <a:ext cx="6448425" cy="4476750"/>
          </a:xfrm>
          <a:prstGeom xmlns:a="http://schemas.openxmlformats.org/drawingml/2006/main" prst="rect">
            <a:avLst/>
          </a:prstGeom>
          <a:solidFill xmlns:a="http://schemas.openxmlformats.org/drawingml/2006/main">
            <a:srgbClr val="FCFAF5"/>
          </a:solidFill>
          <a:ln xmlns:a="http://schemas.openxmlformats.org/drawingml/2006/main" w="19050">
            <a:solidFill>
              <a:srgbClr val="D8FF45"/>
            </a:solidFill>
            <a:prstDash val="solid"/>
          </a:ln>
        </p:spPr>
      </p:sp>
      <p:sp>
        <p:nvSpPr>
          <p:cNvPr id="15" name="shot-mark-Public barber profile">
            <a:extLst xmlns:a="http://schemas.openxmlformats.org/drawingml/2006/main">
              <a:ext uri="{FF2B5EF4-FFF2-40B4-BE49-F238E27FC236}">
                <a16:creationId xmlns:a16="http://schemas.microsoft.com/office/drawing/2014/main" id="{B7CA6598-53D5-46B5-91BB-06807EDA88CD}"/>
              </a:ext>
            </a:extLst>
          </p:cNvPr>
          <p:cNvSpPr>
            <a:spLocks xmlns:a="http://schemas.openxmlformats.org/drawingml/2006/main" noGrp="1"/>
          </p:cNvSpPr>
          <p:nvPr/>
        </p:nvSpPr>
        <p:spPr>
          <a:xfrm xmlns:a="http://schemas.openxmlformats.org/drawingml/2006/main">
            <a:off x="5267325" y="1676400"/>
            <a:ext cx="400050" cy="47625"/>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16" name="shot-label-Public barber profile">
            <a:extLst xmlns:a="http://schemas.openxmlformats.org/drawingml/2006/main">
              <a:ext uri="{FF2B5EF4-FFF2-40B4-BE49-F238E27FC236}">
                <a16:creationId xmlns:a16="http://schemas.microsoft.com/office/drawing/2014/main" id="{CC0A94EE-8E62-4AB9-8761-F8587F324702}"/>
              </a:ext>
            </a:extLst>
          </p:cNvPr>
          <p:cNvSpPr>
            <a:spLocks xmlns:a="http://schemas.openxmlformats.org/drawingml/2006/main" noGrp="1"/>
          </p:cNvSpPr>
          <p:nvPr/>
        </p:nvSpPr>
        <p:spPr>
          <a:xfrm xmlns:a="http://schemas.openxmlformats.org/drawingml/2006/main">
            <a:off x="5267325" y="1866900"/>
            <a:ext cx="6105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FF45"/>
                </a:solidFill>
              </a:defRPr>
            </a:pPr>
            <a:r>
              <a:rPr sz="900" b="1">
                <a:solidFill>
                  <a:srgbClr val="D8FF45"/>
                </a:solidFill>
              </a:rPr>
              <a:t>SCREENSHOT TO ADD</a:t>
            </a:r>
          </a:p>
        </p:txBody>
      </p:sp>
      <p:sp>
        <p:nvSpPr>
          <p:cNvPr id="17" name="shot-title-Public barber profile">
            <a:extLst xmlns:a="http://schemas.openxmlformats.org/drawingml/2006/main">
              <a:ext uri="{FF2B5EF4-FFF2-40B4-BE49-F238E27FC236}">
                <a16:creationId xmlns:a16="http://schemas.microsoft.com/office/drawing/2014/main" id="{7391231E-1927-40A8-8AC7-5FFDA10DF587}"/>
              </a:ext>
            </a:extLst>
          </p:cNvPr>
          <p:cNvSpPr>
            <a:spLocks xmlns:a="http://schemas.openxmlformats.org/drawingml/2006/main" noGrp="1"/>
          </p:cNvSpPr>
          <p:nvPr/>
        </p:nvSpPr>
        <p:spPr>
          <a:xfrm xmlns:a="http://schemas.openxmlformats.org/drawingml/2006/main">
            <a:off x="5267325" y="3457575"/>
            <a:ext cx="61055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0B0A"/>
                </a:solidFill>
              </a:defRPr>
            </a:pPr>
            <a:r>
              <a:rPr sz="1800" b="1">
                <a:solidFill>
                  <a:srgbClr val="0B0B0A"/>
                </a:solidFill>
              </a:rPr>
              <a:t>Public barber profile</a:t>
            </a:r>
          </a:p>
        </p:txBody>
      </p:sp>
      <p:sp>
        <p:nvSpPr>
          <p:cNvPr id="18" name="shot-route-Public barber profile">
            <a:extLst xmlns:a="http://schemas.openxmlformats.org/drawingml/2006/main">
              <a:ext uri="{FF2B5EF4-FFF2-40B4-BE49-F238E27FC236}">
                <a16:creationId xmlns:a16="http://schemas.microsoft.com/office/drawing/2014/main" id="{BA1E43B2-9D43-41C4-B03A-455CEFA823A4}"/>
              </a:ext>
            </a:extLst>
          </p:cNvPr>
          <p:cNvSpPr>
            <a:spLocks xmlns:a="http://schemas.openxmlformats.org/drawingml/2006/main" noGrp="1"/>
          </p:cNvSpPr>
          <p:nvPr/>
        </p:nvSpPr>
        <p:spPr>
          <a:xfrm xmlns:a="http://schemas.openxmlformats.org/drawingml/2006/main">
            <a:off x="5267325" y="3914775"/>
            <a:ext cx="61055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77746D"/>
                </a:solidFill>
              </a:defRPr>
            </a:pPr>
            <a:r>
              <a:rPr sz="1125" b="0">
                <a:solidFill>
                  <a:srgbClr val="77746D"/>
                </a:solidFill>
              </a:rPr>
              <a:t>/profile/yourusername/</a:t>
            </a:r>
          </a:p>
        </p:txBody>
      </p:sp>
      <p:sp>
        <p:nvSpPr>
          <p:cNvPr id="19" name="shot-help-Public barber profile">
            <a:extLst xmlns:a="http://schemas.openxmlformats.org/drawingml/2006/main">
              <a:ext uri="{FF2B5EF4-FFF2-40B4-BE49-F238E27FC236}">
                <a16:creationId xmlns:a16="http://schemas.microsoft.com/office/drawing/2014/main" id="{8CBD1BCF-5953-40B9-9A22-134D450DB794}"/>
              </a:ext>
            </a:extLst>
          </p:cNvPr>
          <p:cNvSpPr>
            <a:spLocks xmlns:a="http://schemas.openxmlformats.org/drawingml/2006/main" noGrp="1"/>
          </p:cNvSpPr>
          <p:nvPr/>
        </p:nvSpPr>
        <p:spPr>
          <a:xfrm xmlns:a="http://schemas.openxmlformats.org/drawingml/2006/main">
            <a:off x="5267325" y="5581650"/>
            <a:ext cx="61055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9A968D"/>
                </a:solidFill>
              </a:defRPr>
            </a:pPr>
            <a:r>
              <a:rPr sz="825" b="0">
                <a:solidFill>
                  <a:srgbClr val="9A968D"/>
                </a:solidFill>
              </a:rPr>
              <a:t>Replace this frame with a full-page capture</a:t>
            </a:r>
          </a:p>
        </p:txBody>
      </p:sp>
    </p:spTree>
    <p:extLst>
      <p:ext uri="{BB962C8B-B14F-4D97-AF65-F5344CB8AC3E}">
        <p14:creationId xmlns:p14="http://schemas.microsoft.com/office/powerpoint/2010/main" val="1070423683"/>
      </p:ext>
    </p:extLst>
  </p:cSld>
</p:sld>
</file>

<file path=ppt/slides/slide4.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26" name="brand">
            <a:extLst xmlns:a="http://schemas.openxmlformats.org/drawingml/2006/main">
              <a:ext uri="{FF2B5EF4-FFF2-40B4-BE49-F238E27FC236}">
                <a16:creationId xmlns:a16="http://schemas.microsoft.com/office/drawing/2014/main" id="{51CA63CA-DA2F-49C7-9CDB-D04BA1CA58FA}"/>
              </a:ext>
            </a:extLst>
          </p:cNvPr>
          <p:cNvSpPr>
            <a:spLocks xmlns:a="http://schemas.openxmlformats.org/drawingml/2006/main" noGrp="1"/>
          </p:cNvSpPr>
          <p:nvPr/>
        </p:nvSpPr>
        <p:spPr>
          <a:xfrm xmlns:a="http://schemas.openxmlformats.org/drawingml/2006/main">
            <a:off x="609600" y="3238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0B0A"/>
                </a:solidFill>
              </a:defRPr>
            </a:pPr>
            <a:r>
              <a:rPr sz="1350" b="1">
                <a:solidFill>
                  <a:srgbClr val="0B0B0A"/>
                </a:solidFill>
              </a:rPr>
              <a:t>SHOWPIECE</a:t>
            </a:r>
          </a:p>
        </p:txBody>
      </p:sp>
      <p:sp>
        <p:nvSpPr>
          <p:cNvPr id="2" name="header-rule">
            <a:extLst xmlns:a="http://schemas.openxmlformats.org/drawingml/2006/main">
              <a:ext uri="{FF2B5EF4-FFF2-40B4-BE49-F238E27FC236}">
                <a16:creationId xmlns:a16="http://schemas.microsoft.com/office/drawing/2014/main" id="{9B5ED8BC-D984-4166-B664-60A348C482C0}"/>
              </a:ext>
            </a:extLst>
          </p:cNvPr>
          <p:cNvSpPr>
            <a:spLocks xmlns:a="http://schemas.openxmlformats.org/drawingml/2006/main" noGrp="1"/>
          </p:cNvSpPr>
          <p:nvPr/>
        </p:nvSpPr>
        <p:spPr>
          <a:xfrm xmlns:a="http://schemas.openxmlformats.org/drawingml/2006/main">
            <a:off x="2286000" y="447675"/>
            <a:ext cx="7524750" cy="9525"/>
          </a:xfrm>
          <a:prstGeom xmlns:a="http://schemas.openxmlformats.org/drawingml/2006/main" prst="rect">
            <a:avLst/>
          </a:prstGeom>
          <a:solidFill xmlns:a="http://schemas.openxmlformats.org/drawingml/2006/main">
            <a:srgbClr val="D9D5CB"/>
          </a:solidFill>
          <a:ln xmlns:a="http://schemas.openxmlformats.org/drawingml/2006/main" w="0">
            <a:solidFill>
              <a:srgbClr val="D9D5CB"/>
            </a:solidFill>
            <a:prstDash val="solid"/>
          </a:ln>
        </p:spPr>
      </p:sp>
      <p:sp>
        <p:nvSpPr>
          <p:cNvPr id="3" name="page-number">
            <a:extLst xmlns:a="http://schemas.openxmlformats.org/drawingml/2006/main">
              <a:ext uri="{FF2B5EF4-FFF2-40B4-BE49-F238E27FC236}">
                <a16:creationId xmlns:a16="http://schemas.microsoft.com/office/drawing/2014/main" id="{86F06CB5-97B6-4999-B00D-F037E6336499}"/>
              </a:ext>
            </a:extLst>
          </p:cNvPr>
          <p:cNvSpPr>
            <a:spLocks xmlns:a="http://schemas.openxmlformats.org/drawingml/2006/main" noGrp="1"/>
          </p:cNvSpPr>
          <p:nvPr/>
        </p:nvSpPr>
        <p:spPr>
          <a:xfrm xmlns:a="http://schemas.openxmlformats.org/drawingml/2006/main">
            <a:off x="10858500" y="31432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443CFF"/>
                </a:solidFill>
              </a:defRPr>
            </a:pPr>
            <a:r>
              <a:rPr sz="1125" b="1">
                <a:solidFill>
                  <a:srgbClr val="443CFF"/>
                </a:solidFill>
              </a:rPr>
              <a:t>04</a:t>
            </a:r>
          </a:p>
        </p:txBody>
      </p:sp>
      <p:sp>
        <p:nvSpPr>
          <p:cNvPr id="4" name="title">
            <a:extLst xmlns:a="http://schemas.openxmlformats.org/drawingml/2006/main">
              <a:ext uri="{FF2B5EF4-FFF2-40B4-BE49-F238E27FC236}">
                <a16:creationId xmlns:a16="http://schemas.microsoft.com/office/drawing/2014/main" id="{CB47C133-8C60-47ED-9611-B6B470E26DB5}"/>
              </a:ext>
            </a:extLst>
          </p:cNvPr>
          <p:cNvSpPr>
            <a:spLocks xmlns:a="http://schemas.openxmlformats.org/drawingml/2006/main" noGrp="1"/>
          </p:cNvSpPr>
          <p:nvPr/>
        </p:nvSpPr>
        <p:spPr>
          <a:xfrm xmlns:a="http://schemas.openxmlformats.org/drawingml/2006/main">
            <a:off x="609600" y="83820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0B0B0A"/>
                </a:solidFill>
              </a:defRPr>
            </a:pPr>
            <a:r>
              <a:rPr sz="3225" b="1">
                <a:solidFill>
                  <a:srgbClr val="0B0B0A"/>
                </a:solidFill>
              </a:rPr>
              <a:t>A workflow made for the chair, not the office.</a:t>
            </a:r>
          </a:p>
        </p:txBody>
      </p:sp>
      <p:sp>
        <p:nvSpPr>
          <p:cNvPr id="5" name="subtitle">
            <a:extLst xmlns:a="http://schemas.openxmlformats.org/drawingml/2006/main">
              <a:ext uri="{FF2B5EF4-FFF2-40B4-BE49-F238E27FC236}">
                <a16:creationId xmlns:a16="http://schemas.microsoft.com/office/drawing/2014/main" id="{404B6D23-7C89-4023-AD8F-1C1E1421EBA1}"/>
              </a:ext>
            </a:extLst>
          </p:cNvPr>
          <p:cNvSpPr>
            <a:spLocks xmlns:a="http://schemas.openxmlformats.org/drawingml/2006/main" noGrp="1"/>
          </p:cNvSpPr>
          <p:nvPr/>
        </p:nvSpPr>
        <p:spPr>
          <a:xfrm xmlns:a="http://schemas.openxmlformats.org/drawingml/2006/main">
            <a:off x="609600" y="140970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77746D"/>
                </a:solidFill>
              </a:defRPr>
            </a:pPr>
            <a:r>
              <a:rPr sz="1575" b="0">
                <a:solidFill>
                  <a:srgbClr val="77746D"/>
                </a:solidFill>
              </a:rPr>
              <a:t>Capture the work once. Use it across the business.</a:t>
            </a:r>
          </a:p>
        </p:txBody>
      </p:sp>
      <p:sp>
        <p:nvSpPr>
          <p:cNvPr id="6" name="shot-Bookings">
            <a:extLst xmlns:a="http://schemas.openxmlformats.org/drawingml/2006/main">
              <a:ext uri="{FF2B5EF4-FFF2-40B4-BE49-F238E27FC236}">
                <a16:creationId xmlns:a16="http://schemas.microsoft.com/office/drawing/2014/main" id="{FB575252-F478-4A82-87EE-23D38101D848}"/>
              </a:ext>
            </a:extLst>
          </p:cNvPr>
          <p:cNvSpPr>
            <a:spLocks xmlns:a="http://schemas.openxmlformats.org/drawingml/2006/main" noGrp="1"/>
          </p:cNvSpPr>
          <p:nvPr/>
        </p:nvSpPr>
        <p:spPr>
          <a:xfrm xmlns:a="http://schemas.openxmlformats.org/drawingml/2006/main">
            <a:off x="609600" y="2000250"/>
            <a:ext cx="3333750" cy="3143250"/>
          </a:xfrm>
          <a:prstGeom xmlns:a="http://schemas.openxmlformats.org/drawingml/2006/main" prst="rect">
            <a:avLst/>
          </a:prstGeom>
          <a:solidFill xmlns:a="http://schemas.openxmlformats.org/drawingml/2006/main">
            <a:srgbClr val="171715"/>
          </a:solidFill>
          <a:ln xmlns:a="http://schemas.openxmlformats.org/drawingml/2006/main" w="19050">
            <a:solidFill>
              <a:srgbClr val="443CFF"/>
            </a:solidFill>
            <a:prstDash val="solid"/>
          </a:ln>
        </p:spPr>
      </p:sp>
      <p:sp>
        <p:nvSpPr>
          <p:cNvPr id="7" name="shot-mark-Bookings">
            <a:extLst xmlns:a="http://schemas.openxmlformats.org/drawingml/2006/main">
              <a:ext uri="{FF2B5EF4-FFF2-40B4-BE49-F238E27FC236}">
                <a16:creationId xmlns:a16="http://schemas.microsoft.com/office/drawing/2014/main" id="{94BA53B6-903D-43BD-BE4A-C70AC1984706}"/>
              </a:ext>
            </a:extLst>
          </p:cNvPr>
          <p:cNvSpPr>
            <a:spLocks xmlns:a="http://schemas.openxmlformats.org/drawingml/2006/main" noGrp="1"/>
          </p:cNvSpPr>
          <p:nvPr/>
        </p:nvSpPr>
        <p:spPr>
          <a:xfrm xmlns:a="http://schemas.openxmlformats.org/drawingml/2006/main">
            <a:off x="781050" y="2171700"/>
            <a:ext cx="400050" cy="47625"/>
          </a:xfrm>
          <a:prstGeom xmlns:a="http://schemas.openxmlformats.org/drawingml/2006/main" prst="rect">
            <a:avLst/>
          </a:prstGeom>
          <a:solidFill xmlns:a="http://schemas.openxmlformats.org/drawingml/2006/main">
            <a:srgbClr val="443CFF"/>
          </a:solidFill>
          <a:ln xmlns:a="http://schemas.openxmlformats.org/drawingml/2006/main" w="0">
            <a:solidFill>
              <a:srgbClr val="443CFF"/>
            </a:solidFill>
            <a:prstDash val="solid"/>
          </a:ln>
        </p:spPr>
      </p:sp>
      <p:sp>
        <p:nvSpPr>
          <p:cNvPr id="8" name="shot-label-Bookings">
            <a:extLst xmlns:a="http://schemas.openxmlformats.org/drawingml/2006/main">
              <a:ext uri="{FF2B5EF4-FFF2-40B4-BE49-F238E27FC236}">
                <a16:creationId xmlns:a16="http://schemas.microsoft.com/office/drawing/2014/main" id="{4CC26A9D-33DD-4820-AB05-71D9D1274570}"/>
              </a:ext>
            </a:extLst>
          </p:cNvPr>
          <p:cNvSpPr>
            <a:spLocks xmlns:a="http://schemas.openxmlformats.org/drawingml/2006/main" noGrp="1"/>
          </p:cNvSpPr>
          <p:nvPr/>
        </p:nvSpPr>
        <p:spPr>
          <a:xfrm xmlns:a="http://schemas.openxmlformats.org/drawingml/2006/main">
            <a:off x="781050" y="2362200"/>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43CFF"/>
                </a:solidFill>
              </a:defRPr>
            </a:pPr>
            <a:r>
              <a:rPr sz="900" b="1">
                <a:solidFill>
                  <a:srgbClr val="443CFF"/>
                </a:solidFill>
              </a:rPr>
              <a:t>SCREENSHOT TO ADD</a:t>
            </a:r>
          </a:p>
        </p:txBody>
      </p:sp>
      <p:sp>
        <p:nvSpPr>
          <p:cNvPr id="9" name="shot-title-Bookings">
            <a:extLst xmlns:a="http://schemas.openxmlformats.org/drawingml/2006/main">
              <a:ext uri="{FF2B5EF4-FFF2-40B4-BE49-F238E27FC236}">
                <a16:creationId xmlns:a16="http://schemas.microsoft.com/office/drawing/2014/main" id="{0BE78824-1331-42BC-84F2-3A625CE6D963}"/>
              </a:ext>
            </a:extLst>
          </p:cNvPr>
          <p:cNvSpPr>
            <a:spLocks xmlns:a="http://schemas.openxmlformats.org/drawingml/2006/main" noGrp="1"/>
          </p:cNvSpPr>
          <p:nvPr/>
        </p:nvSpPr>
        <p:spPr>
          <a:xfrm xmlns:a="http://schemas.openxmlformats.org/drawingml/2006/main">
            <a:off x="781050" y="328612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F0E8"/>
                </a:solidFill>
              </a:defRPr>
            </a:pPr>
            <a:r>
              <a:rPr sz="1800" b="1">
                <a:solidFill>
                  <a:srgbClr val="F3F0E8"/>
                </a:solidFill>
              </a:rPr>
              <a:t>Bookings</a:t>
            </a:r>
          </a:p>
        </p:txBody>
      </p:sp>
      <p:sp>
        <p:nvSpPr>
          <p:cNvPr id="10" name="shot-route-Bookings">
            <a:extLst xmlns:a="http://schemas.openxmlformats.org/drawingml/2006/main">
              <a:ext uri="{FF2B5EF4-FFF2-40B4-BE49-F238E27FC236}">
                <a16:creationId xmlns:a16="http://schemas.microsoft.com/office/drawing/2014/main" id="{A0ED2DE8-C362-430A-8709-0C82A640CFBC}"/>
              </a:ext>
            </a:extLst>
          </p:cNvPr>
          <p:cNvSpPr>
            <a:spLocks xmlns:a="http://schemas.openxmlformats.org/drawingml/2006/main" noGrp="1"/>
          </p:cNvSpPr>
          <p:nvPr/>
        </p:nvSpPr>
        <p:spPr>
          <a:xfrm xmlns:a="http://schemas.openxmlformats.org/drawingml/2006/main">
            <a:off x="781050" y="374332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BDB9B0"/>
                </a:solidFill>
              </a:defRPr>
            </a:pPr>
            <a:r>
              <a:rPr sz="1125" b="0">
                <a:solidFill>
                  <a:srgbClr val="BDB9B0"/>
                </a:solidFill>
              </a:rPr>
              <a:t>/bookings/reservations/</a:t>
            </a:r>
          </a:p>
        </p:txBody>
      </p:sp>
      <p:sp>
        <p:nvSpPr>
          <p:cNvPr id="11" name="shot-help-Bookings">
            <a:extLst xmlns:a="http://schemas.openxmlformats.org/drawingml/2006/main">
              <a:ext uri="{FF2B5EF4-FFF2-40B4-BE49-F238E27FC236}">
                <a16:creationId xmlns:a16="http://schemas.microsoft.com/office/drawing/2014/main" id="{66852F2A-5685-44F7-A32B-6079B5700ED8}"/>
              </a:ext>
            </a:extLst>
          </p:cNvPr>
          <p:cNvSpPr>
            <a:spLocks xmlns:a="http://schemas.openxmlformats.org/drawingml/2006/main" noGrp="1"/>
          </p:cNvSpPr>
          <p:nvPr/>
        </p:nvSpPr>
        <p:spPr>
          <a:xfrm xmlns:a="http://schemas.openxmlformats.org/drawingml/2006/main">
            <a:off x="781050" y="47434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777772"/>
                </a:solidFill>
              </a:defRPr>
            </a:pPr>
            <a:r>
              <a:rPr sz="825" b="0">
                <a:solidFill>
                  <a:srgbClr val="777772"/>
                </a:solidFill>
              </a:rPr>
              <a:t>Replace this frame with a full-page capture</a:t>
            </a:r>
          </a:p>
        </p:txBody>
      </p:sp>
      <p:sp>
        <p:nvSpPr>
          <p:cNvPr id="12" name="shot-Portfolio">
            <a:extLst xmlns:a="http://schemas.openxmlformats.org/drawingml/2006/main">
              <a:ext uri="{FF2B5EF4-FFF2-40B4-BE49-F238E27FC236}">
                <a16:creationId xmlns:a16="http://schemas.microsoft.com/office/drawing/2014/main" id="{92EA4EB8-A7F4-451A-80B7-532C219F055C}"/>
              </a:ext>
            </a:extLst>
          </p:cNvPr>
          <p:cNvSpPr>
            <a:spLocks xmlns:a="http://schemas.openxmlformats.org/drawingml/2006/main" noGrp="1"/>
          </p:cNvSpPr>
          <p:nvPr/>
        </p:nvSpPr>
        <p:spPr>
          <a:xfrm xmlns:a="http://schemas.openxmlformats.org/drawingml/2006/main">
            <a:off x="4429125" y="2000250"/>
            <a:ext cx="3333750" cy="3143250"/>
          </a:xfrm>
          <a:prstGeom xmlns:a="http://schemas.openxmlformats.org/drawingml/2006/main" prst="rect">
            <a:avLst/>
          </a:prstGeom>
          <a:solidFill xmlns:a="http://schemas.openxmlformats.org/drawingml/2006/main">
            <a:srgbClr val="171715"/>
          </a:solidFill>
          <a:ln xmlns:a="http://schemas.openxmlformats.org/drawingml/2006/main" w="19050">
            <a:solidFill>
              <a:srgbClr val="FF5B45"/>
            </a:solidFill>
            <a:prstDash val="solid"/>
          </a:ln>
        </p:spPr>
      </p:sp>
      <p:sp>
        <p:nvSpPr>
          <p:cNvPr id="13" name="shot-mark-Portfolio">
            <a:extLst xmlns:a="http://schemas.openxmlformats.org/drawingml/2006/main">
              <a:ext uri="{FF2B5EF4-FFF2-40B4-BE49-F238E27FC236}">
                <a16:creationId xmlns:a16="http://schemas.microsoft.com/office/drawing/2014/main" id="{8910404A-56B8-48A5-A123-08E331F16A3A}"/>
              </a:ext>
            </a:extLst>
          </p:cNvPr>
          <p:cNvSpPr>
            <a:spLocks xmlns:a="http://schemas.openxmlformats.org/drawingml/2006/main" noGrp="1"/>
          </p:cNvSpPr>
          <p:nvPr/>
        </p:nvSpPr>
        <p:spPr>
          <a:xfrm xmlns:a="http://schemas.openxmlformats.org/drawingml/2006/main">
            <a:off x="4600575" y="2171700"/>
            <a:ext cx="400050" cy="47625"/>
          </a:xfrm>
          <a:prstGeom xmlns:a="http://schemas.openxmlformats.org/drawingml/2006/main" prst="rect">
            <a:avLst/>
          </a:prstGeom>
          <a:solidFill xmlns:a="http://schemas.openxmlformats.org/drawingml/2006/main">
            <a:srgbClr val="FF5B45"/>
          </a:solidFill>
          <a:ln xmlns:a="http://schemas.openxmlformats.org/drawingml/2006/main" w="0">
            <a:solidFill>
              <a:srgbClr val="FF5B45"/>
            </a:solidFill>
            <a:prstDash val="solid"/>
          </a:ln>
        </p:spPr>
      </p:sp>
      <p:sp>
        <p:nvSpPr>
          <p:cNvPr id="14" name="shot-label-Portfolio">
            <a:extLst xmlns:a="http://schemas.openxmlformats.org/drawingml/2006/main">
              <a:ext uri="{FF2B5EF4-FFF2-40B4-BE49-F238E27FC236}">
                <a16:creationId xmlns:a16="http://schemas.microsoft.com/office/drawing/2014/main" id="{C8C1E6AE-C246-4C89-90F3-DEEFFD492DFD}"/>
              </a:ext>
            </a:extLst>
          </p:cNvPr>
          <p:cNvSpPr>
            <a:spLocks xmlns:a="http://schemas.openxmlformats.org/drawingml/2006/main" noGrp="1"/>
          </p:cNvSpPr>
          <p:nvPr/>
        </p:nvSpPr>
        <p:spPr>
          <a:xfrm xmlns:a="http://schemas.openxmlformats.org/drawingml/2006/main">
            <a:off x="4600575" y="2362200"/>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5B45"/>
                </a:solidFill>
              </a:defRPr>
            </a:pPr>
            <a:r>
              <a:rPr sz="900" b="1">
                <a:solidFill>
                  <a:srgbClr val="FF5B45"/>
                </a:solidFill>
              </a:rPr>
              <a:t>SCREENSHOT TO ADD</a:t>
            </a:r>
          </a:p>
        </p:txBody>
      </p:sp>
      <p:sp>
        <p:nvSpPr>
          <p:cNvPr id="15" name="shot-title-Portfolio">
            <a:extLst xmlns:a="http://schemas.openxmlformats.org/drawingml/2006/main">
              <a:ext uri="{FF2B5EF4-FFF2-40B4-BE49-F238E27FC236}">
                <a16:creationId xmlns:a16="http://schemas.microsoft.com/office/drawing/2014/main" id="{10FC7050-4281-4066-B2FB-D0F4CE5199B9}"/>
              </a:ext>
            </a:extLst>
          </p:cNvPr>
          <p:cNvSpPr>
            <a:spLocks xmlns:a="http://schemas.openxmlformats.org/drawingml/2006/main" noGrp="1"/>
          </p:cNvSpPr>
          <p:nvPr/>
        </p:nvSpPr>
        <p:spPr>
          <a:xfrm xmlns:a="http://schemas.openxmlformats.org/drawingml/2006/main">
            <a:off x="4600575" y="328612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F0E8"/>
                </a:solidFill>
              </a:defRPr>
            </a:pPr>
            <a:r>
              <a:rPr sz="1800" b="1">
                <a:solidFill>
                  <a:srgbClr val="F3F0E8"/>
                </a:solidFill>
              </a:rPr>
              <a:t>Portfolio</a:t>
            </a:r>
          </a:p>
        </p:txBody>
      </p:sp>
      <p:sp>
        <p:nvSpPr>
          <p:cNvPr id="16" name="shot-route-Portfolio">
            <a:extLst xmlns:a="http://schemas.openxmlformats.org/drawingml/2006/main">
              <a:ext uri="{FF2B5EF4-FFF2-40B4-BE49-F238E27FC236}">
                <a16:creationId xmlns:a16="http://schemas.microsoft.com/office/drawing/2014/main" id="{2BB0E27D-E0F4-441F-99A1-CC3B96144744}"/>
              </a:ext>
            </a:extLst>
          </p:cNvPr>
          <p:cNvSpPr>
            <a:spLocks xmlns:a="http://schemas.openxmlformats.org/drawingml/2006/main" noGrp="1"/>
          </p:cNvSpPr>
          <p:nvPr/>
        </p:nvSpPr>
        <p:spPr>
          <a:xfrm xmlns:a="http://schemas.openxmlformats.org/drawingml/2006/main">
            <a:off x="4600575" y="374332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BDB9B0"/>
                </a:solidFill>
              </a:defRPr>
            </a:pPr>
            <a:r>
              <a:rPr sz="1125" b="0">
                <a:solidFill>
                  <a:srgbClr val="BDB9B0"/>
                </a:solidFill>
              </a:rPr>
              <a:t>/portfolio/</a:t>
            </a:r>
          </a:p>
        </p:txBody>
      </p:sp>
      <p:sp>
        <p:nvSpPr>
          <p:cNvPr id="17" name="shot-help-Portfolio">
            <a:extLst xmlns:a="http://schemas.openxmlformats.org/drawingml/2006/main">
              <a:ext uri="{FF2B5EF4-FFF2-40B4-BE49-F238E27FC236}">
                <a16:creationId xmlns:a16="http://schemas.microsoft.com/office/drawing/2014/main" id="{40C95991-E5C3-4C20-936E-A969DFEF1376}"/>
              </a:ext>
            </a:extLst>
          </p:cNvPr>
          <p:cNvSpPr>
            <a:spLocks xmlns:a="http://schemas.openxmlformats.org/drawingml/2006/main" noGrp="1"/>
          </p:cNvSpPr>
          <p:nvPr/>
        </p:nvSpPr>
        <p:spPr>
          <a:xfrm xmlns:a="http://schemas.openxmlformats.org/drawingml/2006/main">
            <a:off x="4600575" y="47434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777772"/>
                </a:solidFill>
              </a:defRPr>
            </a:pPr>
            <a:r>
              <a:rPr sz="825" b="0">
                <a:solidFill>
                  <a:srgbClr val="777772"/>
                </a:solidFill>
              </a:rPr>
              <a:t>Replace this frame with a full-page capture</a:t>
            </a:r>
          </a:p>
        </p:txBody>
      </p:sp>
      <p:sp>
        <p:nvSpPr>
          <p:cNvPr id="18" name="shot-Story creator">
            <a:extLst xmlns:a="http://schemas.openxmlformats.org/drawingml/2006/main">
              <a:ext uri="{FF2B5EF4-FFF2-40B4-BE49-F238E27FC236}">
                <a16:creationId xmlns:a16="http://schemas.microsoft.com/office/drawing/2014/main" id="{06BA38B3-F1EB-48A5-AA75-E18406939573}"/>
              </a:ext>
            </a:extLst>
          </p:cNvPr>
          <p:cNvSpPr>
            <a:spLocks xmlns:a="http://schemas.openxmlformats.org/drawingml/2006/main" noGrp="1"/>
          </p:cNvSpPr>
          <p:nvPr/>
        </p:nvSpPr>
        <p:spPr>
          <a:xfrm xmlns:a="http://schemas.openxmlformats.org/drawingml/2006/main">
            <a:off x="8248650" y="2000250"/>
            <a:ext cx="3333750" cy="3143250"/>
          </a:xfrm>
          <a:prstGeom xmlns:a="http://schemas.openxmlformats.org/drawingml/2006/main" prst="rect">
            <a:avLst/>
          </a:prstGeom>
          <a:solidFill xmlns:a="http://schemas.openxmlformats.org/drawingml/2006/main">
            <a:srgbClr val="171715"/>
          </a:solidFill>
          <a:ln xmlns:a="http://schemas.openxmlformats.org/drawingml/2006/main" w="19050">
            <a:solidFill>
              <a:srgbClr val="D8FF45"/>
            </a:solidFill>
            <a:prstDash val="solid"/>
          </a:ln>
        </p:spPr>
      </p:sp>
      <p:sp>
        <p:nvSpPr>
          <p:cNvPr id="19" name="shot-mark-Story creator">
            <a:extLst xmlns:a="http://schemas.openxmlformats.org/drawingml/2006/main">
              <a:ext uri="{FF2B5EF4-FFF2-40B4-BE49-F238E27FC236}">
                <a16:creationId xmlns:a16="http://schemas.microsoft.com/office/drawing/2014/main" id="{AD9AF896-A11A-4244-AAD3-727CDFB384B1}"/>
              </a:ext>
            </a:extLst>
          </p:cNvPr>
          <p:cNvSpPr>
            <a:spLocks xmlns:a="http://schemas.openxmlformats.org/drawingml/2006/main" noGrp="1"/>
          </p:cNvSpPr>
          <p:nvPr/>
        </p:nvSpPr>
        <p:spPr>
          <a:xfrm xmlns:a="http://schemas.openxmlformats.org/drawingml/2006/main">
            <a:off x="8420100" y="2171700"/>
            <a:ext cx="400050" cy="47625"/>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20" name="shot-label-Story creator">
            <a:extLst xmlns:a="http://schemas.openxmlformats.org/drawingml/2006/main">
              <a:ext uri="{FF2B5EF4-FFF2-40B4-BE49-F238E27FC236}">
                <a16:creationId xmlns:a16="http://schemas.microsoft.com/office/drawing/2014/main" id="{EF00A2DE-B010-4573-9FBE-1877F99B05BA}"/>
              </a:ext>
            </a:extLst>
          </p:cNvPr>
          <p:cNvSpPr>
            <a:spLocks xmlns:a="http://schemas.openxmlformats.org/drawingml/2006/main" noGrp="1"/>
          </p:cNvSpPr>
          <p:nvPr/>
        </p:nvSpPr>
        <p:spPr>
          <a:xfrm xmlns:a="http://schemas.openxmlformats.org/drawingml/2006/main">
            <a:off x="8420100" y="2362200"/>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D8FF45"/>
                </a:solidFill>
              </a:defRPr>
            </a:pPr>
            <a:r>
              <a:rPr sz="900" b="1">
                <a:solidFill>
                  <a:srgbClr val="D8FF45"/>
                </a:solidFill>
              </a:rPr>
              <a:t>SCREENSHOT TO ADD</a:t>
            </a:r>
          </a:p>
        </p:txBody>
      </p:sp>
      <p:sp>
        <p:nvSpPr>
          <p:cNvPr id="21" name="shot-title-Story creator">
            <a:extLst xmlns:a="http://schemas.openxmlformats.org/drawingml/2006/main">
              <a:ext uri="{FF2B5EF4-FFF2-40B4-BE49-F238E27FC236}">
                <a16:creationId xmlns:a16="http://schemas.microsoft.com/office/drawing/2014/main" id="{900A6A1B-A05B-4F6C-B84A-FABE9D64EF15}"/>
              </a:ext>
            </a:extLst>
          </p:cNvPr>
          <p:cNvSpPr>
            <a:spLocks xmlns:a="http://schemas.openxmlformats.org/drawingml/2006/main" noGrp="1"/>
          </p:cNvSpPr>
          <p:nvPr/>
        </p:nvSpPr>
        <p:spPr>
          <a:xfrm xmlns:a="http://schemas.openxmlformats.org/drawingml/2006/main">
            <a:off x="8420100" y="328612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F0E8"/>
                </a:solidFill>
              </a:defRPr>
            </a:pPr>
            <a:r>
              <a:rPr sz="1800" b="1">
                <a:solidFill>
                  <a:srgbClr val="F3F0E8"/>
                </a:solidFill>
              </a:rPr>
              <a:t>Story creator</a:t>
            </a:r>
          </a:p>
        </p:txBody>
      </p:sp>
      <p:sp>
        <p:nvSpPr>
          <p:cNvPr id="22" name="shot-route-Story creator">
            <a:extLst xmlns:a="http://schemas.openxmlformats.org/drawingml/2006/main">
              <a:ext uri="{FF2B5EF4-FFF2-40B4-BE49-F238E27FC236}">
                <a16:creationId xmlns:a16="http://schemas.microsoft.com/office/drawing/2014/main" id="{C7ADF2CA-B7EC-49B4-89B1-C2CFE8FCFD59}"/>
              </a:ext>
            </a:extLst>
          </p:cNvPr>
          <p:cNvSpPr>
            <a:spLocks xmlns:a="http://schemas.openxmlformats.org/drawingml/2006/main" noGrp="1"/>
          </p:cNvSpPr>
          <p:nvPr/>
        </p:nvSpPr>
        <p:spPr>
          <a:xfrm xmlns:a="http://schemas.openxmlformats.org/drawingml/2006/main">
            <a:off x="8420100" y="374332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BDB9B0"/>
                </a:solidFill>
              </a:defRPr>
            </a:pPr>
            <a:r>
              <a:rPr sz="1125" b="0">
                <a:solidFill>
                  <a:srgbClr val="BDB9B0"/>
                </a:solidFill>
              </a:rPr>
              <a:t>/instagram/</a:t>
            </a:r>
          </a:p>
        </p:txBody>
      </p:sp>
      <p:sp>
        <p:nvSpPr>
          <p:cNvPr id="23" name="shot-help-Story creator">
            <a:extLst xmlns:a="http://schemas.openxmlformats.org/drawingml/2006/main">
              <a:ext uri="{FF2B5EF4-FFF2-40B4-BE49-F238E27FC236}">
                <a16:creationId xmlns:a16="http://schemas.microsoft.com/office/drawing/2014/main" id="{A42B3C1A-8E17-45A2-836F-7475DFE7B6F2}"/>
              </a:ext>
            </a:extLst>
          </p:cNvPr>
          <p:cNvSpPr>
            <a:spLocks xmlns:a="http://schemas.openxmlformats.org/drawingml/2006/main" noGrp="1"/>
          </p:cNvSpPr>
          <p:nvPr/>
        </p:nvSpPr>
        <p:spPr>
          <a:xfrm xmlns:a="http://schemas.openxmlformats.org/drawingml/2006/main">
            <a:off x="8420100" y="47434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777772"/>
                </a:solidFill>
              </a:defRPr>
            </a:pPr>
            <a:r>
              <a:rPr sz="825" b="0">
                <a:solidFill>
                  <a:srgbClr val="777772"/>
                </a:solidFill>
              </a:rPr>
              <a:t>Replace this frame with a full-page capture</a:t>
            </a:r>
          </a:p>
        </p:txBody>
      </p:sp>
      <p:sp>
        <p:nvSpPr>
          <p:cNvPr id="24" name="workflow-band">
            <a:extLst xmlns:a="http://schemas.openxmlformats.org/drawingml/2006/main">
              <a:ext uri="{FF2B5EF4-FFF2-40B4-BE49-F238E27FC236}">
                <a16:creationId xmlns:a16="http://schemas.microsoft.com/office/drawing/2014/main" id="{66654B13-592A-4F00-B2B5-2BD18D97E19F}"/>
              </a:ext>
            </a:extLst>
          </p:cNvPr>
          <p:cNvSpPr>
            <a:spLocks xmlns:a="http://schemas.openxmlformats.org/drawingml/2006/main" noGrp="1"/>
          </p:cNvSpPr>
          <p:nvPr/>
        </p:nvSpPr>
        <p:spPr>
          <a:xfrm xmlns:a="http://schemas.openxmlformats.org/drawingml/2006/main">
            <a:off x="0" y="5753100"/>
            <a:ext cx="12192000" cy="1104900"/>
          </a:xfrm>
          <a:prstGeom xmlns:a="http://schemas.openxmlformats.org/drawingml/2006/main" prst="rect">
            <a:avLst/>
          </a:prstGeom>
          <a:solidFill xmlns:a="http://schemas.openxmlformats.org/drawingml/2006/main">
            <a:srgbClr val="0B0B0A"/>
          </a:solidFill>
          <a:ln xmlns:a="http://schemas.openxmlformats.org/drawingml/2006/main" w="0">
            <a:solidFill>
              <a:srgbClr val="0B0B0A"/>
            </a:solidFill>
            <a:prstDash val="solid"/>
          </a:ln>
        </p:spPr>
      </p:sp>
      <p:sp>
        <p:nvSpPr>
          <p:cNvPr id="25" name="workflow">
            <a:extLst xmlns:a="http://schemas.openxmlformats.org/drawingml/2006/main">
              <a:ext uri="{FF2B5EF4-FFF2-40B4-BE49-F238E27FC236}">
                <a16:creationId xmlns:a16="http://schemas.microsoft.com/office/drawing/2014/main" id="{0D89E3FC-8AAC-49D1-8B2D-FFC8ED54F925}"/>
              </a:ext>
            </a:extLst>
          </p:cNvPr>
          <p:cNvSpPr>
            <a:spLocks xmlns:a="http://schemas.openxmlformats.org/drawingml/2006/main" noGrp="1"/>
          </p:cNvSpPr>
          <p:nvPr/>
        </p:nvSpPr>
        <p:spPr>
          <a:xfrm xmlns:a="http://schemas.openxmlformats.org/drawingml/2006/main">
            <a:off x="609600" y="60579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75" b="1">
                <a:solidFill>
                  <a:srgbClr val="F3F0E8"/>
                </a:solidFill>
              </a:defRPr>
            </a:pPr>
            <a:r>
              <a:rPr sz="2175" b="1">
                <a:solidFill>
                  <a:srgbClr val="F3F0E8"/>
                </a:solidFill>
              </a:rPr>
              <a:t>BOOK  /  DELIVER  /  SHARE  /  REPEAT</a:t>
            </a:r>
          </a:p>
        </p:txBody>
      </p:sp>
    </p:spTree>
    <p:extLst>
      <p:ext uri="{BB962C8B-B14F-4D97-AF65-F5344CB8AC3E}">
        <p14:creationId xmlns:p14="http://schemas.microsoft.com/office/powerpoint/2010/main" val="520050640"/>
      </p:ext>
    </p:extLst>
  </p:cSld>
</p:sld>
</file>

<file path=ppt/slides/slide5.xml><?xml version="1.0" encoding="utf-8"?>
<p:sld xmlns:p="http://schemas.openxmlformats.org/presentationml/2006/main">
  <p:cSld>
    <p:bg>
      <p:bgPr>
        <a:solidFill xmlns:a="http://schemas.openxmlformats.org/drawingml/2006/main">
          <a:srgbClr val="443CFF"/>
        </a:solidFill>
      </p:bgPr>
    </p:bg>
    <p:spTree>
      <p:nvGrpSpPr>
        <p:cNvPr id="1" name=""/>
        <p:cNvGrpSpPr/>
        <p:nvPr/>
      </p:nvGrpSpPr>
      <p:grpSpPr>
        <a:xfrm xmlns:a="http://schemas.openxmlformats.org/drawingml/2006/main"/>
      </p:grpSpPr>
      <p:sp>
        <p:nvSpPr>
          <p:cNvPr id="16" name="brand">
            <a:extLst xmlns:a="http://schemas.openxmlformats.org/drawingml/2006/main">
              <a:ext uri="{FF2B5EF4-FFF2-40B4-BE49-F238E27FC236}">
                <a16:creationId xmlns:a16="http://schemas.microsoft.com/office/drawing/2014/main" id="{C08DB7FB-22B9-4529-8690-B831CB5CF289}"/>
              </a:ext>
            </a:extLst>
          </p:cNvPr>
          <p:cNvSpPr>
            <a:spLocks xmlns:a="http://schemas.openxmlformats.org/drawingml/2006/main" noGrp="1"/>
          </p:cNvSpPr>
          <p:nvPr/>
        </p:nvSpPr>
        <p:spPr>
          <a:xfrm xmlns:a="http://schemas.openxmlformats.org/drawingml/2006/main">
            <a:off x="609600" y="381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SHOWPIECE</a:t>
            </a:r>
          </a:p>
        </p:txBody>
      </p:sp>
      <p:sp>
        <p:nvSpPr>
          <p:cNvPr id="2" name="offer-label">
            <a:extLst xmlns:a="http://schemas.openxmlformats.org/drawingml/2006/main">
              <a:ext uri="{FF2B5EF4-FFF2-40B4-BE49-F238E27FC236}">
                <a16:creationId xmlns:a16="http://schemas.microsoft.com/office/drawing/2014/main" id="{0930EA61-005D-4178-AA27-11501C32C191}"/>
              </a:ext>
            </a:extLst>
          </p:cNvPr>
          <p:cNvSpPr>
            <a:spLocks xmlns:a="http://schemas.openxmlformats.org/drawingml/2006/main" noGrp="1"/>
          </p:cNvSpPr>
          <p:nvPr/>
        </p:nvSpPr>
        <p:spPr>
          <a:xfrm xmlns:a="http://schemas.openxmlformats.org/drawingml/2006/main">
            <a:off x="8763000" y="39052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CBC9FF"/>
                </a:solidFill>
              </a:defRPr>
            </a:pPr>
            <a:r>
              <a:rPr sz="975" b="1">
                <a:solidFill>
                  <a:srgbClr val="CBC9FF"/>
                </a:solidFill>
              </a:rPr>
              <a:t>THE FOUNDING OFFER</a:t>
            </a:r>
          </a:p>
        </p:txBody>
      </p:sp>
      <p:sp>
        <p:nvSpPr>
          <p:cNvPr id="3" name="top-rule">
            <a:extLst xmlns:a="http://schemas.openxmlformats.org/drawingml/2006/main">
              <a:ext uri="{FF2B5EF4-FFF2-40B4-BE49-F238E27FC236}">
                <a16:creationId xmlns:a16="http://schemas.microsoft.com/office/drawing/2014/main" id="{74214CE0-761C-4744-BCF8-EEEA7CEA8D74}"/>
              </a:ext>
            </a:extLst>
          </p:cNvPr>
          <p:cNvSpPr>
            <a:spLocks xmlns:a="http://schemas.openxmlformats.org/drawingml/2006/main" noGrp="1"/>
          </p:cNvSpPr>
          <p:nvPr/>
        </p:nvSpPr>
        <p:spPr>
          <a:xfrm xmlns:a="http://schemas.openxmlformats.org/drawingml/2006/main">
            <a:off x="609600" y="781050"/>
            <a:ext cx="10934700" cy="9525"/>
          </a:xfrm>
          <a:prstGeom xmlns:a="http://schemas.openxmlformats.org/drawingml/2006/main" prst="rect">
            <a:avLst/>
          </a:prstGeom>
          <a:solidFill xmlns:a="http://schemas.openxmlformats.org/drawingml/2006/main">
            <a:srgbClr val="7772FF"/>
          </a:solidFill>
          <a:ln xmlns:a="http://schemas.openxmlformats.org/drawingml/2006/main" w="0">
            <a:solidFill>
              <a:srgbClr val="7772FF"/>
            </a:solidFill>
            <a:prstDash val="solid"/>
          </a:ln>
        </p:spPr>
      </p:sp>
      <p:sp>
        <p:nvSpPr>
          <p:cNvPr id="4" name="offer-hero">
            <a:extLst xmlns:a="http://schemas.openxmlformats.org/drawingml/2006/main">
              <a:ext uri="{FF2B5EF4-FFF2-40B4-BE49-F238E27FC236}">
                <a16:creationId xmlns:a16="http://schemas.microsoft.com/office/drawing/2014/main" id="{0507646F-3C80-47E4-9509-C3119E653AA1}"/>
              </a:ext>
            </a:extLst>
          </p:cNvPr>
          <p:cNvSpPr>
            <a:spLocks xmlns:a="http://schemas.openxmlformats.org/drawingml/2006/main" noGrp="1"/>
          </p:cNvSpPr>
          <p:nvPr/>
        </p:nvSpPr>
        <p:spPr>
          <a:xfrm xmlns:a="http://schemas.openxmlformats.org/drawingml/2006/main">
            <a:off x="609600" y="1104900"/>
            <a:ext cx="481012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700" b="1">
                <a:solidFill>
                  <a:srgbClr val="FFFFFF"/>
                </a:solidFill>
              </a:defRPr>
            </a:pPr>
            <a:r>
              <a:rPr sz="5700" b="1">
                <a:solidFill>
                  <a:srgbClr val="FFFFFF"/>
                </a:solidFill>
              </a:rPr>
              <a:t>3</a:t>
            </a:r>
          </a:p>
          <a:p xmlns:a="http://schemas.openxmlformats.org/drawingml/2006/main">
            <a:pPr algn="l">
              <a:defRPr sz="5700" b="1">
                <a:solidFill>
                  <a:srgbClr val="FFFFFF"/>
                </a:solidFill>
              </a:defRPr>
            </a:pPr>
            <a:r>
              <a:rPr sz="5700" b="1">
                <a:solidFill>
                  <a:srgbClr val="FFFFFF"/>
                </a:solidFill>
              </a:rPr>
              <a:t>MONTHS</a:t>
            </a:r>
          </a:p>
          <a:p xmlns:a="http://schemas.openxmlformats.org/drawingml/2006/main">
            <a:pPr algn="l">
              <a:defRPr sz="5700" b="1">
                <a:solidFill>
                  <a:srgbClr val="FFFFFF"/>
                </a:solidFill>
              </a:defRPr>
            </a:pPr>
            <a:r>
              <a:rPr sz="5700" b="1">
                <a:solidFill>
                  <a:srgbClr val="FFFFFF"/>
                </a:solidFill>
              </a:rPr>
              <a:t>FREE</a:t>
            </a:r>
          </a:p>
        </p:txBody>
      </p:sp>
      <p:sp>
        <p:nvSpPr>
          <p:cNvPr id="5" name="offer-divider">
            <a:extLst xmlns:a="http://schemas.openxmlformats.org/drawingml/2006/main">
              <a:ext uri="{FF2B5EF4-FFF2-40B4-BE49-F238E27FC236}">
                <a16:creationId xmlns:a16="http://schemas.microsoft.com/office/drawing/2014/main" id="{E2FF0A63-E1C3-480E-A3EE-979FD8799533}"/>
              </a:ext>
            </a:extLst>
          </p:cNvPr>
          <p:cNvSpPr>
            <a:spLocks xmlns:a="http://schemas.openxmlformats.org/drawingml/2006/main" noGrp="1"/>
          </p:cNvSpPr>
          <p:nvPr/>
        </p:nvSpPr>
        <p:spPr>
          <a:xfrm xmlns:a="http://schemas.openxmlformats.org/drawingml/2006/main">
            <a:off x="5619750" y="1266825"/>
            <a:ext cx="76200" cy="4191000"/>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6" name="offer-head-NO CARD REQUIRED">
            <a:extLst xmlns:a="http://schemas.openxmlformats.org/drawingml/2006/main">
              <a:ext uri="{FF2B5EF4-FFF2-40B4-BE49-F238E27FC236}">
                <a16:creationId xmlns:a16="http://schemas.microsoft.com/office/drawing/2014/main" id="{CBA536BD-4264-4DD1-818B-CD68FA120570}"/>
              </a:ext>
            </a:extLst>
          </p:cNvPr>
          <p:cNvSpPr>
            <a:spLocks xmlns:a="http://schemas.openxmlformats.org/drawingml/2006/main" noGrp="1"/>
          </p:cNvSpPr>
          <p:nvPr/>
        </p:nvSpPr>
        <p:spPr>
          <a:xfrm xmlns:a="http://schemas.openxmlformats.org/drawingml/2006/main">
            <a:off x="6143625" y="11906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NO CARD REQUIRED</a:t>
            </a:r>
          </a:p>
        </p:txBody>
      </p:sp>
      <p:sp>
        <p:nvSpPr>
          <p:cNvPr id="7" name="offer-body-NO CARD REQUIRED">
            <a:extLst xmlns:a="http://schemas.openxmlformats.org/drawingml/2006/main">
              <a:ext uri="{FF2B5EF4-FFF2-40B4-BE49-F238E27FC236}">
                <a16:creationId xmlns:a16="http://schemas.microsoft.com/office/drawing/2014/main" id="{D4B6A4BA-74F9-4362-BAA9-5913A2751E99}"/>
              </a:ext>
            </a:extLst>
          </p:cNvPr>
          <p:cNvSpPr>
            <a:spLocks xmlns:a="http://schemas.openxmlformats.org/drawingml/2006/main" noGrp="1"/>
          </p:cNvSpPr>
          <p:nvPr/>
        </p:nvSpPr>
        <p:spPr>
          <a:xfrm xmlns:a="http://schemas.openxmlformats.org/drawingml/2006/main">
            <a:off x="6143625" y="15335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8D6FF"/>
                </a:solidFill>
              </a:defRPr>
            </a:pPr>
            <a:r>
              <a:rPr sz="1275" b="0">
                <a:solidFill>
                  <a:srgbClr val="D8D6FF"/>
                </a:solidFill>
              </a:rPr>
              <a:t>Start without payment details.</a:t>
            </a:r>
          </a:p>
        </p:txBody>
      </p:sp>
      <p:sp>
        <p:nvSpPr>
          <p:cNvPr id="8" name="offer-head-FULL REAL-WORLD USE">
            <a:extLst xmlns:a="http://schemas.openxmlformats.org/drawingml/2006/main">
              <a:ext uri="{FF2B5EF4-FFF2-40B4-BE49-F238E27FC236}">
                <a16:creationId xmlns:a16="http://schemas.microsoft.com/office/drawing/2014/main" id="{E0A87752-7F71-41D7-A86B-FA7F09989DD2}"/>
              </a:ext>
            </a:extLst>
          </p:cNvPr>
          <p:cNvSpPr>
            <a:spLocks xmlns:a="http://schemas.openxmlformats.org/drawingml/2006/main" noGrp="1"/>
          </p:cNvSpPr>
          <p:nvPr/>
        </p:nvSpPr>
        <p:spPr>
          <a:xfrm xmlns:a="http://schemas.openxmlformats.org/drawingml/2006/main">
            <a:off x="6143625" y="22574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FULL REAL-WORLD USE</a:t>
            </a:r>
          </a:p>
        </p:txBody>
      </p:sp>
      <p:sp>
        <p:nvSpPr>
          <p:cNvPr id="9" name="offer-body-FULL REAL-WORLD USE">
            <a:extLst xmlns:a="http://schemas.openxmlformats.org/drawingml/2006/main">
              <a:ext uri="{FF2B5EF4-FFF2-40B4-BE49-F238E27FC236}">
                <a16:creationId xmlns:a16="http://schemas.microsoft.com/office/drawing/2014/main" id="{427AF07F-11EE-4F3E-A7D1-9BEBF8A67495}"/>
              </a:ext>
            </a:extLst>
          </p:cNvPr>
          <p:cNvSpPr>
            <a:spLocks xmlns:a="http://schemas.openxmlformats.org/drawingml/2006/main" noGrp="1"/>
          </p:cNvSpPr>
          <p:nvPr/>
        </p:nvSpPr>
        <p:spPr>
          <a:xfrm xmlns:a="http://schemas.openxmlformats.org/drawingml/2006/main">
            <a:off x="6143625" y="26003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8D6FF"/>
                </a:solidFill>
              </a:defRPr>
            </a:pPr>
            <a:r>
              <a:rPr sz="1275" b="0">
                <a:solidFill>
                  <a:srgbClr val="D8D6FF"/>
                </a:solidFill>
              </a:rPr>
              <a:t>Use Showpiece with actual clients and actual work.</a:t>
            </a:r>
          </a:p>
        </p:txBody>
      </p:sp>
      <p:sp>
        <p:nvSpPr>
          <p:cNvPr id="10" name="offer-head-DIRECT INFLUENCE">
            <a:extLst xmlns:a="http://schemas.openxmlformats.org/drawingml/2006/main">
              <a:ext uri="{FF2B5EF4-FFF2-40B4-BE49-F238E27FC236}">
                <a16:creationId xmlns:a16="http://schemas.microsoft.com/office/drawing/2014/main" id="{DBBE31B9-BA27-4D8D-86F2-D7F97847775A}"/>
              </a:ext>
            </a:extLst>
          </p:cNvPr>
          <p:cNvSpPr>
            <a:spLocks xmlns:a="http://schemas.openxmlformats.org/drawingml/2006/main" noGrp="1"/>
          </p:cNvSpPr>
          <p:nvPr/>
        </p:nvSpPr>
        <p:spPr>
          <a:xfrm xmlns:a="http://schemas.openxmlformats.org/drawingml/2006/main">
            <a:off x="6143625" y="33242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DIRECT INFLUENCE</a:t>
            </a:r>
          </a:p>
        </p:txBody>
      </p:sp>
      <p:sp>
        <p:nvSpPr>
          <p:cNvPr id="11" name="offer-body-DIRECT INFLUENCE">
            <a:extLst xmlns:a="http://schemas.openxmlformats.org/drawingml/2006/main">
              <a:ext uri="{FF2B5EF4-FFF2-40B4-BE49-F238E27FC236}">
                <a16:creationId xmlns:a16="http://schemas.microsoft.com/office/drawing/2014/main" id="{99334270-F7D5-44A5-B63A-1C629F1CABB2}"/>
              </a:ext>
            </a:extLst>
          </p:cNvPr>
          <p:cNvSpPr>
            <a:spLocks xmlns:a="http://schemas.openxmlformats.org/drawingml/2006/main" noGrp="1"/>
          </p:cNvSpPr>
          <p:nvPr/>
        </p:nvSpPr>
        <p:spPr>
          <a:xfrm xmlns:a="http://schemas.openxmlformats.org/drawingml/2006/main">
            <a:off x="6143625" y="36671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8D6FF"/>
                </a:solidFill>
              </a:defRPr>
            </a:pPr>
            <a:r>
              <a:rPr sz="1275" b="0">
                <a:solidFill>
                  <a:srgbClr val="D8D6FF"/>
                </a:solidFill>
              </a:rPr>
              <a:t>Tell us what saves time, what feels unclear, and what should change.</a:t>
            </a:r>
          </a:p>
        </p:txBody>
      </p:sp>
      <p:sp>
        <p:nvSpPr>
          <p:cNvPr id="12" name="offer-head-50% OFF FOR 12 MONTHS">
            <a:extLst xmlns:a="http://schemas.openxmlformats.org/drawingml/2006/main">
              <a:ext uri="{FF2B5EF4-FFF2-40B4-BE49-F238E27FC236}">
                <a16:creationId xmlns:a16="http://schemas.microsoft.com/office/drawing/2014/main" id="{21DB640C-1162-4F20-893A-903EBB8314BE}"/>
              </a:ext>
            </a:extLst>
          </p:cNvPr>
          <p:cNvSpPr>
            <a:spLocks xmlns:a="http://schemas.openxmlformats.org/drawingml/2006/main" noGrp="1"/>
          </p:cNvSpPr>
          <p:nvPr/>
        </p:nvSpPr>
        <p:spPr>
          <a:xfrm xmlns:a="http://schemas.openxmlformats.org/drawingml/2006/main">
            <a:off x="6143625" y="43910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50% OFF FOR 12 MONTHS</a:t>
            </a:r>
          </a:p>
        </p:txBody>
      </p:sp>
      <p:sp>
        <p:nvSpPr>
          <p:cNvPr id="13" name="offer-body-50% OFF FOR 12 MONTHS">
            <a:extLst xmlns:a="http://schemas.openxmlformats.org/drawingml/2006/main">
              <a:ext uri="{FF2B5EF4-FFF2-40B4-BE49-F238E27FC236}">
                <a16:creationId xmlns:a16="http://schemas.microsoft.com/office/drawing/2014/main" id="{0CDE199E-E08B-4F97-8366-080BE53422C7}"/>
              </a:ext>
            </a:extLst>
          </p:cNvPr>
          <p:cNvSpPr>
            <a:spLocks xmlns:a="http://schemas.openxmlformats.org/drawingml/2006/main" noGrp="1"/>
          </p:cNvSpPr>
          <p:nvPr/>
        </p:nvSpPr>
        <p:spPr>
          <a:xfrm xmlns:a="http://schemas.openxmlformats.org/drawingml/2006/main">
            <a:off x="6143625" y="47339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D8D6FF"/>
                </a:solidFill>
              </a:defRPr>
            </a:pPr>
            <a:r>
              <a:rPr sz="1275" b="0">
                <a:solidFill>
                  <a:srgbClr val="D8D6FF"/>
                </a:solidFill>
              </a:rPr>
              <a:t>Choose monthly or annual billing after the free period.</a:t>
            </a:r>
          </a:p>
        </p:txBody>
      </p:sp>
      <p:sp>
        <p:nvSpPr>
          <p:cNvPr id="14" name="bottom-band">
            <a:extLst xmlns:a="http://schemas.openxmlformats.org/drawingml/2006/main">
              <a:ext uri="{FF2B5EF4-FFF2-40B4-BE49-F238E27FC236}">
                <a16:creationId xmlns:a16="http://schemas.microsoft.com/office/drawing/2014/main" id="{6091EC6D-94EF-460D-9664-C29AEA05280D}"/>
              </a:ext>
            </a:extLst>
          </p:cNvPr>
          <p:cNvSpPr>
            <a:spLocks xmlns:a="http://schemas.openxmlformats.org/drawingml/2006/main" noGrp="1"/>
          </p:cNvSpPr>
          <p:nvPr/>
        </p:nvSpPr>
        <p:spPr>
          <a:xfrm xmlns:a="http://schemas.openxmlformats.org/drawingml/2006/main">
            <a:off x="0" y="6115050"/>
            <a:ext cx="12192000" cy="742950"/>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15" name="goal">
            <a:extLst xmlns:a="http://schemas.openxmlformats.org/drawingml/2006/main">
              <a:ext uri="{FF2B5EF4-FFF2-40B4-BE49-F238E27FC236}">
                <a16:creationId xmlns:a16="http://schemas.microsoft.com/office/drawing/2014/main" id="{261416D5-8083-4C6D-BDE2-AD8FC3BE234B}"/>
              </a:ext>
            </a:extLst>
          </p:cNvPr>
          <p:cNvSpPr>
            <a:spLocks xmlns:a="http://schemas.openxmlformats.org/drawingml/2006/main" noGrp="1"/>
          </p:cNvSpPr>
          <p:nvPr/>
        </p:nvSpPr>
        <p:spPr>
          <a:xfrm xmlns:a="http://schemas.openxmlformats.org/drawingml/2006/main">
            <a:off x="609600" y="6324600"/>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0B0A"/>
                </a:solidFill>
              </a:defRPr>
            </a:pPr>
            <a:r>
              <a:rPr sz="1725" b="1">
                <a:solidFill>
                  <a:srgbClr val="0B0B0A"/>
                </a:solidFill>
              </a:rPr>
              <a:t>THE GOAL: MAKE SHOWPIECE READY TO SELL IN OCTOBER.</a:t>
            </a:r>
          </a:p>
        </p:txBody>
      </p:sp>
    </p:spTree>
    <p:extLst>
      <p:ext uri="{BB962C8B-B14F-4D97-AF65-F5344CB8AC3E}">
        <p14:creationId xmlns:p14="http://schemas.microsoft.com/office/powerpoint/2010/main" val="799618076"/>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8" name="brand">
            <a:extLst xmlns:a="http://schemas.openxmlformats.org/drawingml/2006/main">
              <a:ext uri="{FF2B5EF4-FFF2-40B4-BE49-F238E27FC236}">
                <a16:creationId xmlns:a16="http://schemas.microsoft.com/office/drawing/2014/main" id="{D109221C-3E5E-4F38-B350-3F62DEC4A1A9}"/>
              </a:ext>
            </a:extLst>
          </p:cNvPr>
          <p:cNvSpPr>
            <a:spLocks xmlns:a="http://schemas.openxmlformats.org/drawingml/2006/main" noGrp="1"/>
          </p:cNvSpPr>
          <p:nvPr/>
        </p:nvSpPr>
        <p:spPr>
          <a:xfrm xmlns:a="http://schemas.openxmlformats.org/drawingml/2006/main">
            <a:off x="609600" y="3238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0B0A"/>
                </a:solidFill>
              </a:defRPr>
            </a:pPr>
            <a:r>
              <a:rPr sz="1350" b="1">
                <a:solidFill>
                  <a:srgbClr val="0B0B0A"/>
                </a:solidFill>
              </a:rPr>
              <a:t>SHOWPIECE</a:t>
            </a:r>
          </a:p>
        </p:txBody>
      </p:sp>
      <p:sp>
        <p:nvSpPr>
          <p:cNvPr id="2" name="header-rule">
            <a:extLst xmlns:a="http://schemas.openxmlformats.org/drawingml/2006/main">
              <a:ext uri="{FF2B5EF4-FFF2-40B4-BE49-F238E27FC236}">
                <a16:creationId xmlns:a16="http://schemas.microsoft.com/office/drawing/2014/main" id="{C35E3F64-7528-4BDA-8DB8-C273BB766B0F}"/>
              </a:ext>
            </a:extLst>
          </p:cNvPr>
          <p:cNvSpPr>
            <a:spLocks xmlns:a="http://schemas.openxmlformats.org/drawingml/2006/main" noGrp="1"/>
          </p:cNvSpPr>
          <p:nvPr/>
        </p:nvSpPr>
        <p:spPr>
          <a:xfrm xmlns:a="http://schemas.openxmlformats.org/drawingml/2006/main">
            <a:off x="2286000" y="447675"/>
            <a:ext cx="7524750" cy="9525"/>
          </a:xfrm>
          <a:prstGeom xmlns:a="http://schemas.openxmlformats.org/drawingml/2006/main" prst="rect">
            <a:avLst/>
          </a:prstGeom>
          <a:solidFill xmlns:a="http://schemas.openxmlformats.org/drawingml/2006/main">
            <a:srgbClr val="D9D5CB"/>
          </a:solidFill>
          <a:ln xmlns:a="http://schemas.openxmlformats.org/drawingml/2006/main" w="0">
            <a:solidFill>
              <a:srgbClr val="D9D5CB"/>
            </a:solidFill>
            <a:prstDash val="solid"/>
          </a:ln>
        </p:spPr>
      </p:sp>
      <p:sp>
        <p:nvSpPr>
          <p:cNvPr id="3" name="page-number">
            <a:extLst xmlns:a="http://schemas.openxmlformats.org/drawingml/2006/main">
              <a:ext uri="{FF2B5EF4-FFF2-40B4-BE49-F238E27FC236}">
                <a16:creationId xmlns:a16="http://schemas.microsoft.com/office/drawing/2014/main" id="{30AC1E6B-96B1-4A42-A3A7-66910BC3282A}"/>
              </a:ext>
            </a:extLst>
          </p:cNvPr>
          <p:cNvSpPr>
            <a:spLocks xmlns:a="http://schemas.openxmlformats.org/drawingml/2006/main" noGrp="1"/>
          </p:cNvSpPr>
          <p:nvPr/>
        </p:nvSpPr>
        <p:spPr>
          <a:xfrm xmlns:a="http://schemas.openxmlformats.org/drawingml/2006/main">
            <a:off x="10858500" y="31432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443CFF"/>
                </a:solidFill>
              </a:defRPr>
            </a:pPr>
            <a:r>
              <a:rPr sz="1125" b="1">
                <a:solidFill>
                  <a:srgbClr val="443CFF"/>
                </a:solidFill>
              </a:rPr>
              <a:t>06</a:t>
            </a:r>
          </a:p>
        </p:txBody>
      </p:sp>
      <p:sp>
        <p:nvSpPr>
          <p:cNvPr id="4" name="title">
            <a:extLst xmlns:a="http://schemas.openxmlformats.org/drawingml/2006/main">
              <a:ext uri="{FF2B5EF4-FFF2-40B4-BE49-F238E27FC236}">
                <a16:creationId xmlns:a16="http://schemas.microsoft.com/office/drawing/2014/main" id="{F9F498AC-5B12-4624-BF1D-3FCFCDDE4962}"/>
              </a:ext>
            </a:extLst>
          </p:cNvPr>
          <p:cNvSpPr>
            <a:spLocks xmlns:a="http://schemas.openxmlformats.org/drawingml/2006/main" noGrp="1"/>
          </p:cNvSpPr>
          <p:nvPr/>
        </p:nvSpPr>
        <p:spPr>
          <a:xfrm xmlns:a="http://schemas.openxmlformats.org/drawingml/2006/main">
            <a:off x="609600" y="876300"/>
            <a:ext cx="723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0B0B0A"/>
                </a:solidFill>
              </a:defRPr>
            </a:pPr>
            <a:r>
              <a:rPr sz="3225" b="1">
                <a:solidFill>
                  <a:srgbClr val="0B0B0A"/>
                </a:solidFill>
              </a:rPr>
              <a:t>Help build the version barbers will pay for.</a:t>
            </a:r>
          </a:p>
        </p:txBody>
      </p:sp>
      <p:sp>
        <p:nvSpPr>
          <p:cNvPr id="5" name="recruitment">
            <a:extLst xmlns:a="http://schemas.openxmlformats.org/drawingml/2006/main">
              <a:ext uri="{FF2B5EF4-FFF2-40B4-BE49-F238E27FC236}">
                <a16:creationId xmlns:a16="http://schemas.microsoft.com/office/drawing/2014/main" id="{B8509DE5-E98C-4D7A-BE6F-BC8D4711720D}"/>
              </a:ext>
            </a:extLst>
          </p:cNvPr>
          <p:cNvSpPr>
            <a:spLocks xmlns:a="http://schemas.openxmlformats.org/drawingml/2006/main" noGrp="1"/>
          </p:cNvSpPr>
          <p:nvPr/>
        </p:nvSpPr>
        <p:spPr>
          <a:xfrm xmlns:a="http://schemas.openxmlformats.org/drawingml/2006/main">
            <a:off x="609600" y="20955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443CFF"/>
                </a:solidFill>
              </a:defRPr>
            </a:pPr>
            <a:r>
              <a:rPr sz="1875" b="1">
                <a:solidFill>
                  <a:srgbClr val="443CFF"/>
                </a:solidFill>
              </a:rPr>
              <a:t>We need 100-150 active barbers - not passive testers.</a:t>
            </a:r>
          </a:p>
        </p:txBody>
      </p:sp>
      <p:sp>
        <p:nvSpPr>
          <p:cNvPr id="6" name="actions">
            <a:extLst xmlns:a="http://schemas.openxmlformats.org/drawingml/2006/main">
              <a:ext uri="{FF2B5EF4-FFF2-40B4-BE49-F238E27FC236}">
                <a16:creationId xmlns:a16="http://schemas.microsoft.com/office/drawing/2014/main" id="{2681E7BA-9843-40DA-8893-E99A5C803651}"/>
              </a:ext>
            </a:extLst>
          </p:cNvPr>
          <p:cNvSpPr>
            <a:spLocks xmlns:a="http://schemas.openxmlformats.org/drawingml/2006/main" noGrp="1"/>
          </p:cNvSpPr>
          <p:nvPr/>
        </p:nvSpPr>
        <p:spPr>
          <a:xfrm xmlns:a="http://schemas.openxmlformats.org/drawingml/2006/main">
            <a:off x="609600" y="2952750"/>
            <a:ext cx="4381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B0B0A"/>
                </a:solidFill>
              </a:defRPr>
            </a:pPr>
            <a:r>
              <a:rPr sz="2025" b="1">
                <a:solidFill>
                  <a:srgbClr val="0B0B0A"/>
                </a:solidFill>
              </a:rPr>
              <a:t>Book clients.</a:t>
            </a:r>
          </a:p>
          <a:p xmlns:a="http://schemas.openxmlformats.org/drawingml/2006/main">
            <a:pPr algn="l">
              <a:defRPr sz="2025" b="1">
                <a:solidFill>
                  <a:srgbClr val="0B0B0A"/>
                </a:solidFill>
              </a:defRPr>
            </a:pPr>
            <a:r>
              <a:rPr sz="2025" b="1">
                <a:solidFill>
                  <a:srgbClr val="0B0B0A"/>
                </a:solidFill>
              </a:rPr>
              <a:t>Upload real work.</a:t>
            </a:r>
          </a:p>
          <a:p xmlns:a="http://schemas.openxmlformats.org/drawingml/2006/main">
            <a:pPr algn="l">
              <a:defRPr sz="2025" b="1">
                <a:solidFill>
                  <a:srgbClr val="0B0B0A"/>
                </a:solidFill>
              </a:defRPr>
            </a:pPr>
            <a:r>
              <a:rPr sz="2025" b="1">
                <a:solidFill>
                  <a:srgbClr val="0B0B0A"/>
                </a:solidFill>
              </a:rPr>
              <a:t>Share your profile.</a:t>
            </a:r>
          </a:p>
          <a:p xmlns:a="http://schemas.openxmlformats.org/drawingml/2006/main">
            <a:pPr algn="l">
              <a:defRPr sz="2025" b="1">
                <a:solidFill>
                  <a:srgbClr val="0B0B0A"/>
                </a:solidFill>
              </a:defRPr>
            </a:pPr>
            <a:r>
              <a:rPr sz="2025" b="1">
                <a:solidFill>
                  <a:srgbClr val="0B0B0A"/>
                </a:solidFill>
              </a:rPr>
              <a:t>Tell us what breaks.</a:t>
            </a:r>
          </a:p>
        </p:txBody>
      </p:sp>
      <p:sp>
        <p:nvSpPr>
          <p:cNvPr id="7" name="cta-rule">
            <a:extLst xmlns:a="http://schemas.openxmlformats.org/drawingml/2006/main">
              <a:ext uri="{FF2B5EF4-FFF2-40B4-BE49-F238E27FC236}">
                <a16:creationId xmlns:a16="http://schemas.microsoft.com/office/drawing/2014/main" id="{D04F1A5B-B1D7-4CCD-9669-C85F05BAE61B}"/>
              </a:ext>
            </a:extLst>
          </p:cNvPr>
          <p:cNvSpPr>
            <a:spLocks xmlns:a="http://schemas.openxmlformats.org/drawingml/2006/main" noGrp="1"/>
          </p:cNvSpPr>
          <p:nvPr/>
        </p:nvSpPr>
        <p:spPr>
          <a:xfrm xmlns:a="http://schemas.openxmlformats.org/drawingml/2006/main">
            <a:off x="609600" y="4953000"/>
            <a:ext cx="4000500" cy="19050"/>
          </a:xfrm>
          <a:prstGeom xmlns:a="http://schemas.openxmlformats.org/drawingml/2006/main" prst="rect">
            <a:avLst/>
          </a:prstGeom>
          <a:solidFill xmlns:a="http://schemas.openxmlformats.org/drawingml/2006/main">
            <a:srgbClr val="0B0B0A"/>
          </a:solidFill>
          <a:ln xmlns:a="http://schemas.openxmlformats.org/drawingml/2006/main" w="0">
            <a:solidFill>
              <a:srgbClr val="0B0B0A"/>
            </a:solidFill>
            <a:prstDash val="solid"/>
          </a:ln>
        </p:spPr>
      </p:sp>
      <p:sp>
        <p:nvSpPr>
          <p:cNvPr id="8" name="cta">
            <a:extLst xmlns:a="http://schemas.openxmlformats.org/drawingml/2006/main">
              <a:ext uri="{FF2B5EF4-FFF2-40B4-BE49-F238E27FC236}">
                <a16:creationId xmlns:a16="http://schemas.microsoft.com/office/drawing/2014/main" id="{A5E6064E-3737-454E-AD96-2133C2B15E6F}"/>
              </a:ext>
            </a:extLst>
          </p:cNvPr>
          <p:cNvSpPr>
            <a:spLocks xmlns:a="http://schemas.openxmlformats.org/drawingml/2006/main" noGrp="1"/>
          </p:cNvSpPr>
          <p:nvPr/>
        </p:nvSpPr>
        <p:spPr>
          <a:xfrm xmlns:a="http://schemas.openxmlformats.org/drawingml/2006/main">
            <a:off x="609600" y="52197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0B0B0A"/>
                </a:solidFill>
              </a:defRPr>
            </a:pPr>
            <a:r>
              <a:rPr sz="2175" b="1">
                <a:solidFill>
                  <a:srgbClr val="0B0B0A"/>
                </a:solidFill>
              </a:rPr>
              <a:t>JOIN THE TEST DRIVE</a:t>
            </a:r>
          </a:p>
        </p:txBody>
      </p:sp>
      <p:sp>
        <p:nvSpPr>
          <p:cNvPr id="9" name="url">
            <a:extLst xmlns:a="http://schemas.openxmlformats.org/drawingml/2006/main">
              <a:ext uri="{FF2B5EF4-FFF2-40B4-BE49-F238E27FC236}">
                <a16:creationId xmlns:a16="http://schemas.microsoft.com/office/drawing/2014/main" id="{5FC393DB-36A1-4785-ADC7-B42F97FF98A2}"/>
              </a:ext>
            </a:extLst>
          </p:cNvPr>
          <p:cNvSpPr>
            <a:spLocks xmlns:a="http://schemas.openxmlformats.org/drawingml/2006/main" noGrp="1"/>
          </p:cNvSpPr>
          <p:nvPr/>
        </p:nvSpPr>
        <p:spPr>
          <a:xfrm xmlns:a="http://schemas.openxmlformats.org/drawingml/2006/main">
            <a:off x="609600" y="57150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443CFF"/>
                </a:solidFill>
              </a:defRPr>
            </a:pPr>
            <a:r>
              <a:rPr sz="1800" b="1">
                <a:solidFill>
                  <a:srgbClr val="443CFF"/>
                </a:solidFill>
              </a:rPr>
              <a:t>showpiecehub.com</a:t>
            </a:r>
          </a:p>
        </p:txBody>
      </p:sp>
      <p:sp>
        <p:nvSpPr>
          <p:cNvPr id="10" name="shot-Create account">
            <a:extLst xmlns:a="http://schemas.openxmlformats.org/drawingml/2006/main">
              <a:ext uri="{FF2B5EF4-FFF2-40B4-BE49-F238E27FC236}">
                <a16:creationId xmlns:a16="http://schemas.microsoft.com/office/drawing/2014/main" id="{61ACEED0-4993-43DF-8A53-BD15BAB3B8A6}"/>
              </a:ext>
            </a:extLst>
          </p:cNvPr>
          <p:cNvSpPr>
            <a:spLocks xmlns:a="http://schemas.openxmlformats.org/drawingml/2006/main" noGrp="1"/>
          </p:cNvSpPr>
          <p:nvPr/>
        </p:nvSpPr>
        <p:spPr>
          <a:xfrm xmlns:a="http://schemas.openxmlformats.org/drawingml/2006/main">
            <a:off x="6210300" y="1504950"/>
            <a:ext cx="5334000" cy="4248150"/>
          </a:xfrm>
          <a:prstGeom xmlns:a="http://schemas.openxmlformats.org/drawingml/2006/main" prst="rect">
            <a:avLst/>
          </a:prstGeom>
          <a:solidFill xmlns:a="http://schemas.openxmlformats.org/drawingml/2006/main">
            <a:srgbClr val="171715"/>
          </a:solidFill>
          <a:ln xmlns:a="http://schemas.openxmlformats.org/drawingml/2006/main" w="19050">
            <a:solidFill>
              <a:srgbClr val="443CFF"/>
            </a:solidFill>
            <a:prstDash val="solid"/>
          </a:ln>
        </p:spPr>
      </p:sp>
      <p:sp>
        <p:nvSpPr>
          <p:cNvPr id="11" name="shot-mark-Create account">
            <a:extLst xmlns:a="http://schemas.openxmlformats.org/drawingml/2006/main">
              <a:ext uri="{FF2B5EF4-FFF2-40B4-BE49-F238E27FC236}">
                <a16:creationId xmlns:a16="http://schemas.microsoft.com/office/drawing/2014/main" id="{43A0095F-FA50-4CFC-A7E0-9AE41BF333E1}"/>
              </a:ext>
            </a:extLst>
          </p:cNvPr>
          <p:cNvSpPr>
            <a:spLocks xmlns:a="http://schemas.openxmlformats.org/drawingml/2006/main" noGrp="1"/>
          </p:cNvSpPr>
          <p:nvPr/>
        </p:nvSpPr>
        <p:spPr>
          <a:xfrm xmlns:a="http://schemas.openxmlformats.org/drawingml/2006/main">
            <a:off x="6381750" y="1676400"/>
            <a:ext cx="400050" cy="47625"/>
          </a:xfrm>
          <a:prstGeom xmlns:a="http://schemas.openxmlformats.org/drawingml/2006/main" prst="rect">
            <a:avLst/>
          </a:prstGeom>
          <a:solidFill xmlns:a="http://schemas.openxmlformats.org/drawingml/2006/main">
            <a:srgbClr val="443CFF"/>
          </a:solidFill>
          <a:ln xmlns:a="http://schemas.openxmlformats.org/drawingml/2006/main" w="0">
            <a:solidFill>
              <a:srgbClr val="443CFF"/>
            </a:solidFill>
            <a:prstDash val="solid"/>
          </a:ln>
        </p:spPr>
      </p:sp>
      <p:sp>
        <p:nvSpPr>
          <p:cNvPr id="12" name="shot-label-Create account">
            <a:extLst xmlns:a="http://schemas.openxmlformats.org/drawingml/2006/main">
              <a:ext uri="{FF2B5EF4-FFF2-40B4-BE49-F238E27FC236}">
                <a16:creationId xmlns:a16="http://schemas.microsoft.com/office/drawing/2014/main" id="{CC6BE462-C546-4929-B143-16827B2660F9}"/>
              </a:ext>
            </a:extLst>
          </p:cNvPr>
          <p:cNvSpPr>
            <a:spLocks xmlns:a="http://schemas.openxmlformats.org/drawingml/2006/main" noGrp="1"/>
          </p:cNvSpPr>
          <p:nvPr/>
        </p:nvSpPr>
        <p:spPr>
          <a:xfrm xmlns:a="http://schemas.openxmlformats.org/drawingml/2006/main">
            <a:off x="6381750" y="18669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43CFF"/>
                </a:solidFill>
              </a:defRPr>
            </a:pPr>
            <a:r>
              <a:rPr sz="900" b="1">
                <a:solidFill>
                  <a:srgbClr val="443CFF"/>
                </a:solidFill>
              </a:rPr>
              <a:t>SCREENSHOT TO ADD</a:t>
            </a:r>
          </a:p>
        </p:txBody>
      </p:sp>
      <p:sp>
        <p:nvSpPr>
          <p:cNvPr id="13" name="shot-title-Create account">
            <a:extLst xmlns:a="http://schemas.openxmlformats.org/drawingml/2006/main">
              <a:ext uri="{FF2B5EF4-FFF2-40B4-BE49-F238E27FC236}">
                <a16:creationId xmlns:a16="http://schemas.microsoft.com/office/drawing/2014/main" id="{5DF01CA9-2AA8-4D5E-A0E2-BF0C4607C0C1}"/>
              </a:ext>
            </a:extLst>
          </p:cNvPr>
          <p:cNvSpPr>
            <a:spLocks xmlns:a="http://schemas.openxmlformats.org/drawingml/2006/main" noGrp="1"/>
          </p:cNvSpPr>
          <p:nvPr/>
        </p:nvSpPr>
        <p:spPr>
          <a:xfrm xmlns:a="http://schemas.openxmlformats.org/drawingml/2006/main">
            <a:off x="6381750" y="3343275"/>
            <a:ext cx="499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F0E8"/>
                </a:solidFill>
              </a:defRPr>
            </a:pPr>
            <a:r>
              <a:rPr sz="1800" b="1">
                <a:solidFill>
                  <a:srgbClr val="F3F0E8"/>
                </a:solidFill>
              </a:rPr>
              <a:t>Create account</a:t>
            </a:r>
          </a:p>
        </p:txBody>
      </p:sp>
      <p:sp>
        <p:nvSpPr>
          <p:cNvPr id="14" name="shot-route-Create account">
            <a:extLst xmlns:a="http://schemas.openxmlformats.org/drawingml/2006/main">
              <a:ext uri="{FF2B5EF4-FFF2-40B4-BE49-F238E27FC236}">
                <a16:creationId xmlns:a16="http://schemas.microsoft.com/office/drawing/2014/main" id="{D231830F-9B05-4626-91BD-93CF731BB348}"/>
              </a:ext>
            </a:extLst>
          </p:cNvPr>
          <p:cNvSpPr>
            <a:spLocks xmlns:a="http://schemas.openxmlformats.org/drawingml/2006/main" noGrp="1"/>
          </p:cNvSpPr>
          <p:nvPr/>
        </p:nvSpPr>
        <p:spPr>
          <a:xfrm xmlns:a="http://schemas.openxmlformats.org/drawingml/2006/main">
            <a:off x="6381750" y="3800475"/>
            <a:ext cx="499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BDB9B0"/>
                </a:solidFill>
              </a:defRPr>
            </a:pPr>
            <a:r>
              <a:rPr sz="1125" b="0">
                <a:solidFill>
                  <a:srgbClr val="BDB9B0"/>
                </a:solidFill>
              </a:rPr>
              <a:t>/auth/register/</a:t>
            </a:r>
          </a:p>
        </p:txBody>
      </p:sp>
      <p:sp>
        <p:nvSpPr>
          <p:cNvPr id="15" name="shot-help-Create account">
            <a:extLst xmlns:a="http://schemas.openxmlformats.org/drawingml/2006/main">
              <a:ext uri="{FF2B5EF4-FFF2-40B4-BE49-F238E27FC236}">
                <a16:creationId xmlns:a16="http://schemas.microsoft.com/office/drawing/2014/main" id="{83FE9658-9AF1-44C0-A824-5D21F4210217}"/>
              </a:ext>
            </a:extLst>
          </p:cNvPr>
          <p:cNvSpPr>
            <a:spLocks xmlns:a="http://schemas.openxmlformats.org/drawingml/2006/main" noGrp="1"/>
          </p:cNvSpPr>
          <p:nvPr/>
        </p:nvSpPr>
        <p:spPr>
          <a:xfrm xmlns:a="http://schemas.openxmlformats.org/drawingml/2006/main">
            <a:off x="6381750" y="5353050"/>
            <a:ext cx="499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0">
                <a:solidFill>
                  <a:srgbClr val="777772"/>
                </a:solidFill>
              </a:defRPr>
            </a:pPr>
            <a:r>
              <a:rPr sz="825" b="0">
                <a:solidFill>
                  <a:srgbClr val="777772"/>
                </a:solidFill>
              </a:rPr>
              <a:t>Replace this frame with a full-page capture</a:t>
            </a:r>
          </a:p>
        </p:txBody>
      </p:sp>
      <p:sp>
        <p:nvSpPr>
          <p:cNvPr id="16" name="final-strip">
            <a:extLst xmlns:a="http://schemas.openxmlformats.org/drawingml/2006/main">
              <a:ext uri="{FF2B5EF4-FFF2-40B4-BE49-F238E27FC236}">
                <a16:creationId xmlns:a16="http://schemas.microsoft.com/office/drawing/2014/main" id="{D6C5718F-24EF-44E5-86FA-6260025CB9C3}"/>
              </a:ext>
            </a:extLst>
          </p:cNvPr>
          <p:cNvSpPr>
            <a:spLocks xmlns:a="http://schemas.openxmlformats.org/drawingml/2006/main" noGrp="1"/>
          </p:cNvSpPr>
          <p:nvPr/>
        </p:nvSpPr>
        <p:spPr>
          <a:xfrm xmlns:a="http://schemas.openxmlformats.org/drawingml/2006/main">
            <a:off x="6210300" y="5924550"/>
            <a:ext cx="5334000" cy="361950"/>
          </a:xfrm>
          <a:prstGeom xmlns:a="http://schemas.openxmlformats.org/drawingml/2006/main" prst="rect">
            <a:avLst/>
          </a:prstGeom>
          <a:solidFill xmlns:a="http://schemas.openxmlformats.org/drawingml/2006/main">
            <a:srgbClr val="D8FF45"/>
          </a:solidFill>
          <a:ln xmlns:a="http://schemas.openxmlformats.org/drawingml/2006/main" w="0">
            <a:solidFill>
              <a:srgbClr val="D8FF45"/>
            </a:solidFill>
            <a:prstDash val="solid"/>
          </a:ln>
        </p:spPr>
      </p:sp>
      <p:sp>
        <p:nvSpPr>
          <p:cNvPr id="17" name="final-strip-copy">
            <a:extLst xmlns:a="http://schemas.openxmlformats.org/drawingml/2006/main">
              <a:ext uri="{FF2B5EF4-FFF2-40B4-BE49-F238E27FC236}">
                <a16:creationId xmlns:a16="http://schemas.microsoft.com/office/drawing/2014/main" id="{0661C3BE-63D2-444E-AB89-66FA71D822B8}"/>
              </a:ext>
            </a:extLst>
          </p:cNvPr>
          <p:cNvSpPr>
            <a:spLocks xmlns:a="http://schemas.openxmlformats.org/drawingml/2006/main" noGrp="1"/>
          </p:cNvSpPr>
          <p:nvPr/>
        </p:nvSpPr>
        <p:spPr>
          <a:xfrm xmlns:a="http://schemas.openxmlformats.org/drawingml/2006/main">
            <a:off x="6381750" y="6000750"/>
            <a:ext cx="499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0B0B0A"/>
                </a:solidFill>
              </a:defRPr>
            </a:pPr>
            <a:r>
              <a:rPr sz="900" b="1">
                <a:solidFill>
                  <a:srgbClr val="0B0B0A"/>
                </a:solidFill>
              </a:rPr>
              <a:t>NO CARD / 3 MONTHS FREE / FOUNDING BARBER PRICING</a:t>
            </a:r>
          </a:p>
        </p:txBody>
      </p:sp>
    </p:spTree>
    <p:extLst>
      <p:ext uri="{BB962C8B-B14F-4D97-AF65-F5344CB8AC3E}">
        <p14:creationId xmlns:p14="http://schemas.microsoft.com/office/powerpoint/2010/main" val="16830089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2026-07-25T22:15:47.0710000Z</dcterms:created>
  <dcterms:modified xsi:type="dcterms:W3CDTF">2026-07-25T22:15:47.0720000Z</dcterms:modified>
</coreProperties>
</file>